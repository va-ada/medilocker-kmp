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45B5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371600"/>
            <a:ext cx="9144000" cy="274320"/>
          </a:xfrm>
          <a:prstGeom prst="rect">
            <a:avLst/>
          </a:prstGeom>
          <a:noFill/>
        </p:spPr>
        <p:txBody>
          <a:bodyPr wrap="square" lIns="0" rIns="0" tIns="0" bIns="0" anchor="t">
            <a:spAutoFit/>
          </a:bodyPr>
          <a:lstStyle/>
          <a:p>
            <a:pPr algn="l">
              <a:lnSpc>
                <a:spcPct val="100000"/>
              </a:lnSpc>
            </a:pPr>
            <a:r>
              <a:rPr sz="1100" b="1" spc="200">
                <a:solidFill>
                  <a:srgbClr val="45B5BE"/>
                </a:solidFill>
                <a:latin typeface="Consolas"/>
              </a:rPr>
              <a:t>NLP MINI PROJECT · MID-TERM REVIEW</a:t>
            </a:r>
          </a:p>
        </p:txBody>
      </p:sp>
      <p:sp>
        <p:nvSpPr>
          <p:cNvPr id="5" name="TextBox 4"/>
          <p:cNvSpPr txBox="1"/>
          <p:nvPr/>
        </p:nvSpPr>
        <p:spPr>
          <a:xfrm>
            <a:off x="1051560" y="1828800"/>
            <a:ext cx="10058400" cy="1005840"/>
          </a:xfrm>
          <a:prstGeom prst="rect">
            <a:avLst/>
          </a:prstGeom>
          <a:noFill/>
        </p:spPr>
        <p:txBody>
          <a:bodyPr wrap="square" lIns="0" rIns="0" tIns="0" bIns="0" anchor="t">
            <a:spAutoFit/>
          </a:bodyPr>
          <a:lstStyle/>
          <a:p>
            <a:pPr algn="l">
              <a:lnSpc>
                <a:spcPct val="92000"/>
              </a:lnSpc>
            </a:pPr>
            <a:r>
              <a:rPr sz="5400" b="1">
                <a:solidFill>
                  <a:srgbClr val="FFFFFF"/>
                </a:solidFill>
                <a:latin typeface="Calibri"/>
              </a:rPr>
              <a:t>MediLocker</a:t>
            </a:r>
          </a:p>
        </p:txBody>
      </p:sp>
      <p:sp>
        <p:nvSpPr>
          <p:cNvPr id="6" name="TextBox 5"/>
          <p:cNvSpPr txBox="1"/>
          <p:nvPr/>
        </p:nvSpPr>
        <p:spPr>
          <a:xfrm>
            <a:off x="1051560" y="2788920"/>
            <a:ext cx="9601200" cy="822960"/>
          </a:xfrm>
          <a:prstGeom prst="rect">
            <a:avLst/>
          </a:prstGeom>
          <a:noFill/>
        </p:spPr>
        <p:txBody>
          <a:bodyPr wrap="square" lIns="0" rIns="0" tIns="0" bIns="0" anchor="t">
            <a:spAutoFit/>
          </a:bodyPr>
          <a:lstStyle/>
          <a:p>
            <a:pPr algn="l">
              <a:lnSpc>
                <a:spcPct val="120000"/>
              </a:lnSpc>
            </a:pPr>
            <a:r>
              <a:rPr sz="2100" b="0">
                <a:solidFill>
                  <a:srgbClr val="A5B5B5"/>
                </a:solidFill>
                <a:latin typeface="Calibri"/>
              </a:rPr>
              <a:t>Reading Indian prescriptions on the phone —</a:t>
            </a:r>
          </a:p>
          <a:p>
            <a:pPr algn="l">
              <a:lnSpc>
                <a:spcPct val="120000"/>
              </a:lnSpc>
            </a:pPr>
            <a:r>
              <a:rPr sz="2100" b="0">
                <a:solidFill>
                  <a:srgbClr val="A5B5B5"/>
                </a:solidFill>
                <a:latin typeface="Calibri"/>
              </a:rPr>
              <a:t>and keeping them there</a:t>
            </a:r>
          </a:p>
        </p:txBody>
      </p:sp>
      <p:sp>
        <p:nvSpPr>
          <p:cNvPr id="7" name="Rectangle 6"/>
          <p:cNvSpPr/>
          <p:nvPr/>
        </p:nvSpPr>
        <p:spPr>
          <a:xfrm>
            <a:off x="1051560" y="3950208"/>
            <a:ext cx="1920240" cy="20116"/>
          </a:xfrm>
          <a:prstGeom prst="rect">
            <a:avLst/>
          </a:prstGeom>
          <a:solidFill>
            <a:srgbClr val="45B5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279392"/>
            <a:ext cx="5029200" cy="1188720"/>
          </a:xfrm>
          <a:prstGeom prst="rect">
            <a:avLst/>
          </a:prstGeom>
          <a:noFill/>
        </p:spPr>
        <p:txBody>
          <a:bodyPr wrap="square" lIns="0" rIns="0" tIns="0" bIns="0" anchor="t">
            <a:spAutoFit/>
          </a:bodyPr>
          <a:lstStyle/>
          <a:p>
            <a:pPr algn="l">
              <a:lnSpc>
                <a:spcPct val="145000"/>
              </a:lnSpc>
            </a:pPr>
            <a:r>
              <a:rPr sz="1400" b="0">
                <a:solidFill>
                  <a:srgbClr val="FFFFFF"/>
                </a:solidFill>
                <a:latin typeface="Calibri"/>
              </a:rPr>
              <a:t>Aditya Soni  (42)</a:t>
            </a:r>
          </a:p>
          <a:p>
            <a:pPr algn="l">
              <a:lnSpc>
                <a:spcPct val="145000"/>
              </a:lnSpc>
            </a:pPr>
            <a:r>
              <a:rPr sz="1400" b="0">
                <a:solidFill>
                  <a:srgbClr val="FFFFFF"/>
                </a:solidFill>
                <a:latin typeface="Calibri"/>
              </a:rPr>
              <a:t>Prashant Jha  (41)</a:t>
            </a:r>
          </a:p>
          <a:p>
            <a:pPr algn="l">
              <a:lnSpc>
                <a:spcPct val="145000"/>
              </a:lnSpc>
            </a:pPr>
            <a:r>
              <a:rPr sz="1400" b="0">
                <a:solidFill>
                  <a:srgbClr val="FFFFFF"/>
                </a:solidFill>
                <a:latin typeface="Calibri"/>
              </a:rPr>
              <a:t>Mariam Badure  (40)</a:t>
            </a:r>
          </a:p>
        </p:txBody>
      </p:sp>
      <p:sp>
        <p:nvSpPr>
          <p:cNvPr id="9" name="TextBox 8"/>
          <p:cNvSpPr txBox="1"/>
          <p:nvPr/>
        </p:nvSpPr>
        <p:spPr>
          <a:xfrm>
            <a:off x="6583680" y="4279392"/>
            <a:ext cx="4572000" cy="1280160"/>
          </a:xfrm>
          <a:prstGeom prst="rect">
            <a:avLst/>
          </a:prstGeom>
          <a:noFill/>
        </p:spPr>
        <p:txBody>
          <a:bodyPr wrap="square" lIns="0" rIns="0" tIns="0" bIns="0" anchor="t">
            <a:spAutoFit/>
          </a:bodyPr>
          <a:lstStyle/>
          <a:p>
            <a:pPr algn="l">
              <a:lnSpc>
                <a:spcPct val="145000"/>
              </a:lnSpc>
            </a:pPr>
            <a:r>
              <a:rPr sz="1250" b="0">
                <a:solidFill>
                  <a:srgbClr val="A5B5B5"/>
                </a:solidFill>
                <a:latin typeface="Calibri"/>
              </a:rPr>
              <a:t>T.E. Artificial Intelligence &amp; Machine Learning</a:t>
            </a:r>
          </a:p>
          <a:p>
            <a:pPr algn="l">
              <a:lnSpc>
                <a:spcPct val="145000"/>
              </a:lnSpc>
            </a:pPr>
            <a:r>
              <a:rPr sz="1250" b="0">
                <a:solidFill>
                  <a:srgbClr val="A5B5B5"/>
                </a:solidFill>
                <a:latin typeface="Calibri"/>
              </a:rPr>
              <a:t>Guide:  Dr. Vaqar Ansari</a:t>
            </a:r>
          </a:p>
          <a:p>
            <a:pPr algn="l">
              <a:lnSpc>
                <a:spcPct val="145000"/>
              </a:lnSpc>
            </a:pPr>
            <a:r>
              <a:rPr sz="1250" b="0">
                <a:solidFill>
                  <a:srgbClr val="A5B5B5"/>
                </a:solidFill>
                <a:latin typeface="Calibri"/>
              </a:rPr>
              <a:t>St. Francis Institute of Technology</a:t>
            </a:r>
          </a:p>
          <a:p>
            <a:pPr algn="l">
              <a:lnSpc>
                <a:spcPct val="145000"/>
              </a:lnSpc>
            </a:pPr>
            <a:r>
              <a:rPr sz="1250" b="0">
                <a:solidFill>
                  <a:srgbClr val="A5B5B5"/>
                </a:solidFill>
                <a:latin typeface="Calibri"/>
              </a:rPr>
              <a:t>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01   INTRODUCTION</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Records are digitised. They are still not readable by software.</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58368" y="1879092"/>
            <a:ext cx="68580" cy="68580"/>
          </a:xfrm>
          <a:prstGeom prst="ellipse">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801368"/>
            <a:ext cx="5266944" cy="658368"/>
          </a:xfrm>
          <a:prstGeom prst="rect">
            <a:avLst/>
          </a:prstGeom>
          <a:noFill/>
        </p:spPr>
        <p:txBody>
          <a:bodyPr wrap="square" lIns="0" rIns="0" tIns="0" bIns="0" anchor="t">
            <a:spAutoFit/>
          </a:bodyPr>
          <a:lstStyle/>
          <a:p>
            <a:pPr algn="l">
              <a:lnSpc>
                <a:spcPct val="112000"/>
              </a:lnSpc>
            </a:pPr>
            <a:r>
              <a:rPr sz="1400" b="0">
                <a:solidFill>
                  <a:srgbClr val="48595B"/>
                </a:solidFill>
                <a:latin typeface="Calibri"/>
              </a:rPr>
              <a:t>In India a medical record is usually a photograph — of a prescription, a lab report, a discharge note.</a:t>
            </a:r>
          </a:p>
        </p:txBody>
      </p:sp>
      <p:sp>
        <p:nvSpPr>
          <p:cNvPr id="8" name="Oval 7"/>
          <p:cNvSpPr/>
          <p:nvPr/>
        </p:nvSpPr>
        <p:spPr>
          <a:xfrm>
            <a:off x="658368" y="2537460"/>
            <a:ext cx="68580" cy="68580"/>
          </a:xfrm>
          <a:prstGeom prst="ellipse">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459736"/>
            <a:ext cx="5266944" cy="658368"/>
          </a:xfrm>
          <a:prstGeom prst="rect">
            <a:avLst/>
          </a:prstGeom>
          <a:noFill/>
        </p:spPr>
        <p:txBody>
          <a:bodyPr wrap="square" lIns="0" rIns="0" tIns="0" bIns="0" anchor="t">
            <a:spAutoFit/>
          </a:bodyPr>
          <a:lstStyle/>
          <a:p>
            <a:pPr algn="l">
              <a:lnSpc>
                <a:spcPct val="112000"/>
              </a:lnSpc>
            </a:pPr>
            <a:r>
              <a:rPr sz="1400" b="0">
                <a:solidFill>
                  <a:srgbClr val="48595B"/>
                </a:solidFill>
                <a:latin typeface="Calibri"/>
              </a:rPr>
              <a:t>A photograph solves filing. It does not solve understanding: you cannot search it, ask it a question, or check it for problems.</a:t>
            </a:r>
          </a:p>
        </p:txBody>
      </p:sp>
      <p:sp>
        <p:nvSpPr>
          <p:cNvPr id="10" name="Oval 9"/>
          <p:cNvSpPr/>
          <p:nvPr/>
        </p:nvSpPr>
        <p:spPr>
          <a:xfrm>
            <a:off x="658368" y="3195828"/>
            <a:ext cx="68580" cy="68580"/>
          </a:xfrm>
          <a:prstGeom prst="ellipse">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3118104"/>
            <a:ext cx="5266944" cy="658368"/>
          </a:xfrm>
          <a:prstGeom prst="rect">
            <a:avLst/>
          </a:prstGeom>
          <a:noFill/>
        </p:spPr>
        <p:txBody>
          <a:bodyPr wrap="square" lIns="0" rIns="0" tIns="0" bIns="0" anchor="t">
            <a:spAutoFit/>
          </a:bodyPr>
          <a:lstStyle/>
          <a:p>
            <a:pPr algn="l">
              <a:lnSpc>
                <a:spcPct val="112000"/>
              </a:lnSpc>
            </a:pPr>
            <a:r>
              <a:rPr sz="1400" b="0">
                <a:solidFill>
                  <a:srgbClr val="48595B"/>
                </a:solidFill>
                <a:latin typeface="Calibri"/>
              </a:rPr>
              <a:t>MediLocker reads the photograph and turns it into structured medical data.</a:t>
            </a:r>
          </a:p>
        </p:txBody>
      </p:sp>
      <p:sp>
        <p:nvSpPr>
          <p:cNvPr id="12" name="Oval 11"/>
          <p:cNvSpPr/>
          <p:nvPr/>
        </p:nvSpPr>
        <p:spPr>
          <a:xfrm>
            <a:off x="658368" y="3854196"/>
            <a:ext cx="68580" cy="68580"/>
          </a:xfrm>
          <a:prstGeom prst="ellipse">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3776472"/>
            <a:ext cx="5266944" cy="658368"/>
          </a:xfrm>
          <a:prstGeom prst="rect">
            <a:avLst/>
          </a:prstGeom>
          <a:noFill/>
        </p:spPr>
        <p:txBody>
          <a:bodyPr wrap="square" lIns="0" rIns="0" tIns="0" bIns="0" anchor="t">
            <a:spAutoFit/>
          </a:bodyPr>
          <a:lstStyle/>
          <a:p>
            <a:pPr algn="l">
              <a:lnSpc>
                <a:spcPct val="112000"/>
              </a:lnSpc>
            </a:pPr>
            <a:r>
              <a:rPr sz="1400" b="1">
                <a:solidFill>
                  <a:srgbClr val="2E7D5B"/>
                </a:solidFill>
                <a:latin typeface="Calibri"/>
              </a:rPr>
              <a:t>Every stage runs on the phone. Nothing readable is ever uploaded.</a:t>
            </a:r>
          </a:p>
        </p:txBody>
      </p:sp>
      <p:sp>
        <p:nvSpPr>
          <p:cNvPr id="14" name="Rounded Rectangle 13"/>
          <p:cNvSpPr/>
          <p:nvPr/>
        </p:nvSpPr>
        <p:spPr>
          <a:xfrm>
            <a:off x="6720840" y="1801368"/>
            <a:ext cx="4800600" cy="288036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67728" y="1984248"/>
            <a:ext cx="4389120" cy="228600"/>
          </a:xfrm>
          <a:prstGeom prst="rect">
            <a:avLst/>
          </a:prstGeom>
          <a:noFill/>
        </p:spPr>
        <p:txBody>
          <a:bodyPr wrap="square" lIns="0" rIns="0" tIns="0" bIns="0" anchor="t">
            <a:spAutoFit/>
          </a:bodyPr>
          <a:lstStyle/>
          <a:p>
            <a:pPr algn="l">
              <a:lnSpc>
                <a:spcPct val="100000"/>
              </a:lnSpc>
            </a:pPr>
            <a:r>
              <a:rPr sz="950" b="1" spc="120">
                <a:solidFill>
                  <a:srgbClr val="0B6E77"/>
                </a:solidFill>
                <a:latin typeface="Consolas"/>
              </a:rPr>
              <a:t>NLP USED IN THIS PROJECT</a:t>
            </a:r>
          </a:p>
        </p:txBody>
      </p:sp>
      <p:sp>
        <p:nvSpPr>
          <p:cNvPr id="16" name="TextBox 15"/>
          <p:cNvSpPr txBox="1"/>
          <p:nvPr/>
        </p:nvSpPr>
        <p:spPr>
          <a:xfrm>
            <a:off x="6967728" y="2322576"/>
            <a:ext cx="4389120" cy="219456"/>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Information extraction</a:t>
            </a:r>
          </a:p>
        </p:txBody>
      </p:sp>
      <p:sp>
        <p:nvSpPr>
          <p:cNvPr id="17" name="TextBox 16"/>
          <p:cNvSpPr txBox="1"/>
          <p:nvPr/>
        </p:nvSpPr>
        <p:spPr>
          <a:xfrm>
            <a:off x="6967728" y="2523744"/>
            <a:ext cx="4389120" cy="201168"/>
          </a:xfrm>
          <a:prstGeom prst="rect">
            <a:avLst/>
          </a:prstGeom>
          <a:noFill/>
        </p:spPr>
        <p:txBody>
          <a:bodyPr wrap="square" lIns="0" rIns="0" tIns="0" bIns="0" anchor="t">
            <a:spAutoFit/>
          </a:bodyPr>
          <a:lstStyle/>
          <a:p>
            <a:pPr algn="l">
              <a:lnSpc>
                <a:spcPct val="100000"/>
              </a:lnSpc>
            </a:pPr>
            <a:r>
              <a:rPr sz="1100" b="0">
                <a:solidFill>
                  <a:srgbClr val="78898B"/>
                </a:solidFill>
                <a:latin typeface="Consolas"/>
              </a:rPr>
              <a:t>pull facts out of free text</a:t>
            </a:r>
          </a:p>
        </p:txBody>
      </p:sp>
      <p:sp>
        <p:nvSpPr>
          <p:cNvPr id="18" name="TextBox 17"/>
          <p:cNvSpPr txBox="1"/>
          <p:nvPr/>
        </p:nvSpPr>
        <p:spPr>
          <a:xfrm>
            <a:off x="6967728" y="2770632"/>
            <a:ext cx="4389120" cy="219456"/>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Named entity recognition</a:t>
            </a:r>
          </a:p>
        </p:txBody>
      </p:sp>
      <p:sp>
        <p:nvSpPr>
          <p:cNvPr id="19" name="TextBox 18"/>
          <p:cNvSpPr txBox="1"/>
          <p:nvPr/>
        </p:nvSpPr>
        <p:spPr>
          <a:xfrm>
            <a:off x="6967728" y="2971800"/>
            <a:ext cx="4389120" cy="201168"/>
          </a:xfrm>
          <a:prstGeom prst="rect">
            <a:avLst/>
          </a:prstGeom>
          <a:noFill/>
        </p:spPr>
        <p:txBody>
          <a:bodyPr wrap="square" lIns="0" rIns="0" tIns="0" bIns="0" anchor="t">
            <a:spAutoFit/>
          </a:bodyPr>
          <a:lstStyle/>
          <a:p>
            <a:pPr algn="l">
              <a:lnSpc>
                <a:spcPct val="100000"/>
              </a:lnSpc>
            </a:pPr>
            <a:r>
              <a:rPr sz="1100" b="0">
                <a:solidFill>
                  <a:srgbClr val="78898B"/>
                </a:solidFill>
                <a:latin typeface="Consolas"/>
              </a:rPr>
              <a:t>find drugs, doses, tests</a:t>
            </a:r>
          </a:p>
        </p:txBody>
      </p:sp>
      <p:sp>
        <p:nvSpPr>
          <p:cNvPr id="20" name="TextBox 19"/>
          <p:cNvSpPr txBox="1"/>
          <p:nvPr/>
        </p:nvSpPr>
        <p:spPr>
          <a:xfrm>
            <a:off x="6967728" y="3218688"/>
            <a:ext cx="4389120" cy="219456"/>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Relation extraction</a:t>
            </a:r>
          </a:p>
        </p:txBody>
      </p:sp>
      <p:sp>
        <p:nvSpPr>
          <p:cNvPr id="21" name="TextBox 20"/>
          <p:cNvSpPr txBox="1"/>
          <p:nvPr/>
        </p:nvSpPr>
        <p:spPr>
          <a:xfrm>
            <a:off x="6967728" y="3419856"/>
            <a:ext cx="4389120" cy="201168"/>
          </a:xfrm>
          <a:prstGeom prst="rect">
            <a:avLst/>
          </a:prstGeom>
          <a:noFill/>
        </p:spPr>
        <p:txBody>
          <a:bodyPr wrap="square" lIns="0" rIns="0" tIns="0" bIns="0" anchor="t">
            <a:spAutoFit/>
          </a:bodyPr>
          <a:lstStyle/>
          <a:p>
            <a:pPr algn="l">
              <a:lnSpc>
                <a:spcPct val="100000"/>
              </a:lnSpc>
            </a:pPr>
            <a:r>
              <a:rPr sz="1100" b="0">
                <a:solidFill>
                  <a:srgbClr val="78898B"/>
                </a:solidFill>
                <a:latin typeface="Consolas"/>
              </a:rPr>
              <a:t>bind each dose to its drug</a:t>
            </a:r>
          </a:p>
        </p:txBody>
      </p:sp>
      <p:sp>
        <p:nvSpPr>
          <p:cNvPr id="22" name="TextBox 21"/>
          <p:cNvSpPr txBox="1"/>
          <p:nvPr/>
        </p:nvSpPr>
        <p:spPr>
          <a:xfrm>
            <a:off x="6967728" y="3666744"/>
            <a:ext cx="4389120" cy="219456"/>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Concept normalisation</a:t>
            </a:r>
          </a:p>
        </p:txBody>
      </p:sp>
      <p:sp>
        <p:nvSpPr>
          <p:cNvPr id="23" name="TextBox 22"/>
          <p:cNvSpPr txBox="1"/>
          <p:nvPr/>
        </p:nvSpPr>
        <p:spPr>
          <a:xfrm>
            <a:off x="6967728" y="3867911"/>
            <a:ext cx="4389120" cy="201168"/>
          </a:xfrm>
          <a:prstGeom prst="rect">
            <a:avLst/>
          </a:prstGeom>
          <a:noFill/>
        </p:spPr>
        <p:txBody>
          <a:bodyPr wrap="square" lIns="0" rIns="0" tIns="0" bIns="0" anchor="t">
            <a:spAutoFit/>
          </a:bodyPr>
          <a:lstStyle/>
          <a:p>
            <a:pPr algn="l">
              <a:lnSpc>
                <a:spcPct val="100000"/>
              </a:lnSpc>
            </a:pPr>
            <a:r>
              <a:rPr sz="1100" b="0">
                <a:solidFill>
                  <a:srgbClr val="78898B"/>
                </a:solidFill>
                <a:latin typeface="Consolas"/>
              </a:rPr>
              <a:t>brand → generic → standard code</a:t>
            </a:r>
          </a:p>
        </p:txBody>
      </p:sp>
      <p:sp>
        <p:nvSpPr>
          <p:cNvPr id="24" name="TextBox 23"/>
          <p:cNvSpPr txBox="1"/>
          <p:nvPr/>
        </p:nvSpPr>
        <p:spPr>
          <a:xfrm>
            <a:off x="6967728" y="4114800"/>
            <a:ext cx="4389120" cy="219456"/>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Code-mixed processing</a:t>
            </a:r>
          </a:p>
        </p:txBody>
      </p:sp>
      <p:sp>
        <p:nvSpPr>
          <p:cNvPr id="25" name="TextBox 24"/>
          <p:cNvSpPr txBox="1"/>
          <p:nvPr/>
        </p:nvSpPr>
        <p:spPr>
          <a:xfrm>
            <a:off x="6967728" y="4315968"/>
            <a:ext cx="4389120" cy="201168"/>
          </a:xfrm>
          <a:prstGeom prst="rect">
            <a:avLst/>
          </a:prstGeom>
          <a:noFill/>
        </p:spPr>
        <p:txBody>
          <a:bodyPr wrap="square" lIns="0" rIns="0" tIns="0" bIns="0" anchor="t">
            <a:spAutoFit/>
          </a:bodyPr>
          <a:lstStyle/>
          <a:p>
            <a:pPr algn="l">
              <a:lnSpc>
                <a:spcPct val="100000"/>
              </a:lnSpc>
            </a:pPr>
            <a:r>
              <a:rPr sz="1100" b="0">
                <a:solidFill>
                  <a:srgbClr val="78898B"/>
                </a:solidFill>
                <a:latin typeface="Consolas"/>
              </a:rPr>
              <a:t>Devanagari + Latin in one line</a:t>
            </a:r>
          </a:p>
        </p:txBody>
      </p:sp>
      <p:sp>
        <p:nvSpPr>
          <p:cNvPr id="26" name="TextBox 25"/>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27" name="TextBox 26"/>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02   MOTIVATION</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Four reasons this problem is worth solving here, now.</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01368"/>
            <a:ext cx="5166360" cy="13898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01368"/>
            <a:ext cx="50292" cy="1389888"/>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984248"/>
            <a:ext cx="4663440" cy="274320"/>
          </a:xfrm>
          <a:prstGeom prst="rect">
            <a:avLst/>
          </a:prstGeom>
          <a:noFill/>
        </p:spPr>
        <p:txBody>
          <a:bodyPr wrap="square" lIns="0" rIns="0" tIns="0" bIns="0" anchor="t">
            <a:spAutoFit/>
          </a:bodyPr>
          <a:lstStyle/>
          <a:p>
            <a:pPr algn="l">
              <a:lnSpc>
                <a:spcPct val="100000"/>
              </a:lnSpc>
            </a:pPr>
            <a:r>
              <a:rPr sz="1500" b="1">
                <a:solidFill>
                  <a:srgbClr val="14201F"/>
                </a:solidFill>
                <a:latin typeface="Calibri"/>
              </a:rPr>
              <a:t>Prescriptions are code-mixed</a:t>
            </a:r>
          </a:p>
        </p:txBody>
      </p:sp>
      <p:sp>
        <p:nvSpPr>
          <p:cNvPr id="9" name="TextBox 8"/>
          <p:cNvSpPr txBox="1"/>
          <p:nvPr/>
        </p:nvSpPr>
        <p:spPr>
          <a:xfrm>
            <a:off x="950976" y="2304288"/>
            <a:ext cx="4663440" cy="822960"/>
          </a:xfrm>
          <a:prstGeom prst="rect">
            <a:avLst/>
          </a:prstGeom>
          <a:noFill/>
        </p:spPr>
        <p:txBody>
          <a:bodyPr wrap="square" lIns="0" rIns="0" tIns="0" bIns="0" anchor="t">
            <a:spAutoFit/>
          </a:bodyPr>
          <a:lstStyle/>
          <a:p>
            <a:pPr algn="l">
              <a:lnSpc>
                <a:spcPct val="128000"/>
              </a:lnSpc>
            </a:pPr>
            <a:r>
              <a:rPr sz="1150" b="0">
                <a:solidFill>
                  <a:srgbClr val="48595B"/>
                </a:solidFill>
                <a:latin typeface="Calibri"/>
              </a:rPr>
              <a:t>Devanagari sentences carrying Latin drug names:</a:t>
            </a:r>
          </a:p>
          <a:p>
            <a:pPr algn="l">
              <a:lnSpc>
                <a:spcPct val="128000"/>
              </a:lnSpc>
            </a:pPr>
            <a:r>
              <a:rPr sz="1150" b="0">
                <a:solidFill>
                  <a:srgbClr val="48595B"/>
                </a:solidFill>
                <a:latin typeface="Calibri"/>
                <a:cs typeface="Nirmala UI"/>
                <a:ea typeface="Nirmala UI"/>
              </a:rPr>
              <a:t>"Paracetamol 500mg दिन में दो बार"</a:t>
            </a:r>
          </a:p>
          <a:p>
            <a:pPr algn="l">
              <a:lnSpc>
                <a:spcPct val="128000"/>
              </a:lnSpc>
            </a:pPr>
            <a:r>
              <a:rPr sz="1150" b="0">
                <a:solidFill>
                  <a:srgbClr val="48595B"/>
                </a:solidFill>
                <a:latin typeface="Calibri"/>
              </a:rPr>
              <a:t>English-only pipelines break on this.</a:t>
            </a:r>
          </a:p>
        </p:txBody>
      </p:sp>
      <p:sp>
        <p:nvSpPr>
          <p:cNvPr id="10" name="Rounded Rectangle 9"/>
          <p:cNvSpPr/>
          <p:nvPr/>
        </p:nvSpPr>
        <p:spPr>
          <a:xfrm>
            <a:off x="6099048" y="1801368"/>
            <a:ext cx="5166360" cy="13898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9048" y="1801368"/>
            <a:ext cx="50292" cy="1389888"/>
          </a:xfrm>
          <a:prstGeom prst="rect">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1984248"/>
            <a:ext cx="4663440" cy="274320"/>
          </a:xfrm>
          <a:prstGeom prst="rect">
            <a:avLst/>
          </a:prstGeom>
          <a:noFill/>
        </p:spPr>
        <p:txBody>
          <a:bodyPr wrap="square" lIns="0" rIns="0" tIns="0" bIns="0" anchor="t">
            <a:spAutoFit/>
          </a:bodyPr>
          <a:lstStyle/>
          <a:p>
            <a:pPr algn="l">
              <a:lnSpc>
                <a:spcPct val="100000"/>
              </a:lnSpc>
            </a:pPr>
            <a:r>
              <a:rPr sz="1500" b="1">
                <a:solidFill>
                  <a:srgbClr val="14201F"/>
                </a:solidFill>
                <a:latin typeface="Calibri"/>
              </a:rPr>
              <a:t>One ingredient, many brands</a:t>
            </a:r>
          </a:p>
        </p:txBody>
      </p:sp>
      <p:sp>
        <p:nvSpPr>
          <p:cNvPr id="13" name="TextBox 12"/>
          <p:cNvSpPr txBox="1"/>
          <p:nvPr/>
        </p:nvSpPr>
        <p:spPr>
          <a:xfrm>
            <a:off x="6391656" y="2304288"/>
            <a:ext cx="4663440" cy="822960"/>
          </a:xfrm>
          <a:prstGeom prst="rect">
            <a:avLst/>
          </a:prstGeom>
          <a:noFill/>
        </p:spPr>
        <p:txBody>
          <a:bodyPr wrap="square" lIns="0" rIns="0" tIns="0" bIns="0" anchor="t">
            <a:spAutoFit/>
          </a:bodyPr>
          <a:lstStyle/>
          <a:p>
            <a:pPr algn="l">
              <a:lnSpc>
                <a:spcPct val="128000"/>
              </a:lnSpc>
            </a:pPr>
            <a:r>
              <a:rPr sz="1150" b="0">
                <a:solidFill>
                  <a:srgbClr val="48595B"/>
                </a:solidFill>
                <a:latin typeface="Calibri"/>
              </a:rPr>
              <a:t>Dolo 650, Crocin and Calpol are all paracetamol.</a:t>
            </a:r>
          </a:p>
          <a:p>
            <a:pPr algn="l">
              <a:lnSpc>
                <a:spcPct val="128000"/>
              </a:lnSpc>
            </a:pPr>
            <a:r>
              <a:rPr sz="1150" b="0">
                <a:solidFill>
                  <a:srgbClr val="48595B"/>
                </a:solidFill>
                <a:latin typeface="Calibri"/>
              </a:rPr>
              <a:t>Two doctors, two brands — a double dose</a:t>
            </a:r>
          </a:p>
          <a:p>
            <a:pPr algn="l">
              <a:lnSpc>
                <a:spcPct val="128000"/>
              </a:lnSpc>
            </a:pPr>
            <a:r>
              <a:rPr sz="1150" b="0">
                <a:solidFill>
                  <a:srgbClr val="48595B"/>
                </a:solidFill>
                <a:latin typeface="Calibri"/>
              </a:rPr>
              <a:t>that nobody notices.</a:t>
            </a:r>
          </a:p>
        </p:txBody>
      </p:sp>
      <p:sp>
        <p:nvSpPr>
          <p:cNvPr id="14" name="Rounded Rectangle 13"/>
          <p:cNvSpPr/>
          <p:nvPr/>
        </p:nvSpPr>
        <p:spPr>
          <a:xfrm>
            <a:off x="658368" y="3374136"/>
            <a:ext cx="5166360" cy="13898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374136"/>
            <a:ext cx="50292" cy="138988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3557016"/>
            <a:ext cx="4663440" cy="274320"/>
          </a:xfrm>
          <a:prstGeom prst="rect">
            <a:avLst/>
          </a:prstGeom>
          <a:noFill/>
        </p:spPr>
        <p:txBody>
          <a:bodyPr wrap="square" lIns="0" rIns="0" tIns="0" bIns="0" anchor="t">
            <a:spAutoFit/>
          </a:bodyPr>
          <a:lstStyle/>
          <a:p>
            <a:pPr algn="l">
              <a:lnSpc>
                <a:spcPct val="100000"/>
              </a:lnSpc>
            </a:pPr>
            <a:r>
              <a:rPr sz="1500" b="1">
                <a:solidFill>
                  <a:srgbClr val="14201F"/>
                </a:solidFill>
                <a:latin typeface="Calibri"/>
              </a:rPr>
              <a:t>Health data cannot go to a cloud API</a:t>
            </a:r>
          </a:p>
        </p:txBody>
      </p:sp>
      <p:sp>
        <p:nvSpPr>
          <p:cNvPr id="17" name="TextBox 16"/>
          <p:cNvSpPr txBox="1"/>
          <p:nvPr/>
        </p:nvSpPr>
        <p:spPr>
          <a:xfrm>
            <a:off x="950976" y="3877056"/>
            <a:ext cx="4663440" cy="822960"/>
          </a:xfrm>
          <a:prstGeom prst="rect">
            <a:avLst/>
          </a:prstGeom>
          <a:noFill/>
        </p:spPr>
        <p:txBody>
          <a:bodyPr wrap="square" lIns="0" rIns="0" tIns="0" bIns="0" anchor="t">
            <a:spAutoFit/>
          </a:bodyPr>
          <a:lstStyle/>
          <a:p>
            <a:pPr algn="l">
              <a:lnSpc>
                <a:spcPct val="128000"/>
              </a:lnSpc>
            </a:pPr>
            <a:r>
              <a:rPr sz="1150" b="0">
                <a:solidFill>
                  <a:srgbClr val="48595B"/>
                </a:solidFill>
                <a:latin typeface="Calibri"/>
              </a:rPr>
              <a:t>The DPDP Act, 2023 makes sending a patient's</a:t>
            </a:r>
          </a:p>
          <a:p>
            <a:pPr algn="l">
              <a:lnSpc>
                <a:spcPct val="128000"/>
              </a:lnSpc>
            </a:pPr>
            <a:r>
              <a:rPr sz="1150" b="0">
                <a:solidFill>
                  <a:srgbClr val="48595B"/>
                </a:solidFill>
                <a:latin typeface="Calibri"/>
              </a:rPr>
              <a:t>records to a third-party model a compliance</a:t>
            </a:r>
          </a:p>
          <a:p>
            <a:pPr algn="l">
              <a:lnSpc>
                <a:spcPct val="128000"/>
              </a:lnSpc>
            </a:pPr>
            <a:r>
              <a:rPr sz="1150" b="0">
                <a:solidFill>
                  <a:srgbClr val="48595B"/>
                </a:solidFill>
                <a:latin typeface="Calibri"/>
              </a:rPr>
              <a:t>problem, not a preference.</a:t>
            </a:r>
          </a:p>
        </p:txBody>
      </p:sp>
      <p:sp>
        <p:nvSpPr>
          <p:cNvPr id="18" name="Rounded Rectangle 17"/>
          <p:cNvSpPr/>
          <p:nvPr/>
        </p:nvSpPr>
        <p:spPr>
          <a:xfrm>
            <a:off x="6099048" y="3374136"/>
            <a:ext cx="5166360" cy="13898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9048" y="3374136"/>
            <a:ext cx="50292" cy="1389888"/>
          </a:xfrm>
          <a:prstGeom prst="rect">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1656" y="3557016"/>
            <a:ext cx="4663440" cy="274320"/>
          </a:xfrm>
          <a:prstGeom prst="rect">
            <a:avLst/>
          </a:prstGeom>
          <a:noFill/>
        </p:spPr>
        <p:txBody>
          <a:bodyPr wrap="square" lIns="0" rIns="0" tIns="0" bIns="0" anchor="t">
            <a:spAutoFit/>
          </a:bodyPr>
          <a:lstStyle/>
          <a:p>
            <a:pPr algn="l">
              <a:lnSpc>
                <a:spcPct val="100000"/>
              </a:lnSpc>
            </a:pPr>
            <a:r>
              <a:rPr sz="1500" b="1">
                <a:solidFill>
                  <a:srgbClr val="14201F"/>
                </a:solidFill>
                <a:latin typeface="Calibri"/>
              </a:rPr>
              <a:t>Paper cannot answer a question</a:t>
            </a:r>
          </a:p>
        </p:txBody>
      </p:sp>
      <p:sp>
        <p:nvSpPr>
          <p:cNvPr id="21" name="TextBox 20"/>
          <p:cNvSpPr txBox="1"/>
          <p:nvPr/>
        </p:nvSpPr>
        <p:spPr>
          <a:xfrm>
            <a:off x="6391656" y="3877056"/>
            <a:ext cx="4663440" cy="822960"/>
          </a:xfrm>
          <a:prstGeom prst="rect">
            <a:avLst/>
          </a:prstGeom>
          <a:noFill/>
        </p:spPr>
        <p:txBody>
          <a:bodyPr wrap="square" lIns="0" rIns="0" tIns="0" bIns="0" anchor="t">
            <a:spAutoFit/>
          </a:bodyPr>
          <a:lstStyle/>
          <a:p>
            <a:pPr algn="l">
              <a:lnSpc>
                <a:spcPct val="128000"/>
              </a:lnSpc>
            </a:pPr>
            <a:r>
              <a:rPr sz="1150" b="0">
                <a:solidFill>
                  <a:srgbClr val="48595B"/>
                </a:solidFill>
                <a:latin typeface="Calibri"/>
              </a:rPr>
              <a:t>A patient holding five years of prescriptions</a:t>
            </a:r>
          </a:p>
          <a:p>
            <a:pPr algn="l">
              <a:lnSpc>
                <a:spcPct val="128000"/>
              </a:lnSpc>
            </a:pPr>
            <a:r>
              <a:rPr sz="1150" b="0">
                <a:solidFill>
                  <a:srgbClr val="48595B"/>
                </a:solidFill>
                <a:latin typeface="Calibri"/>
              </a:rPr>
              <a:t>still cannot say what they are currently taking.</a:t>
            </a:r>
          </a:p>
        </p:txBody>
      </p:sp>
      <p:sp>
        <p:nvSpPr>
          <p:cNvPr id="22" name="TextBox 21"/>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23" name="TextBox 22"/>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03   PROBLEM STATEMENT</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What goes in, what must come out, and what makes it hard.</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01368"/>
            <a:ext cx="3291840" cy="1417320"/>
          </a:xfrm>
          <a:prstGeom prst="roundRect">
            <a:avLst>
              <a:gd name="adj" fmla="val 6000"/>
            </a:avLst>
          </a:prstGeom>
          <a:solidFill>
            <a:srgbClr val="FFFFFF"/>
          </a:solidFill>
          <a:ln w="1778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84248"/>
            <a:ext cx="2834640" cy="228600"/>
          </a:xfrm>
          <a:prstGeom prst="rect">
            <a:avLst/>
          </a:prstGeom>
          <a:noFill/>
        </p:spPr>
        <p:txBody>
          <a:bodyPr wrap="square" lIns="0" rIns="0" tIns="0" bIns="0" anchor="t">
            <a:spAutoFit/>
          </a:bodyPr>
          <a:lstStyle/>
          <a:p>
            <a:pPr algn="l">
              <a:lnSpc>
                <a:spcPct val="100000"/>
              </a:lnSpc>
            </a:pPr>
            <a:r>
              <a:rPr sz="950" b="1" spc="140">
                <a:solidFill>
                  <a:srgbClr val="0B6E77"/>
                </a:solidFill>
                <a:latin typeface="Consolas"/>
              </a:rPr>
              <a:t>INPUT</a:t>
            </a:r>
          </a:p>
        </p:txBody>
      </p:sp>
      <p:sp>
        <p:nvSpPr>
          <p:cNvPr id="8" name="TextBox 7"/>
          <p:cNvSpPr txBox="1"/>
          <p:nvPr/>
        </p:nvSpPr>
        <p:spPr>
          <a:xfrm>
            <a:off x="914400" y="2258568"/>
            <a:ext cx="2834640" cy="868680"/>
          </a:xfrm>
          <a:prstGeom prst="rect">
            <a:avLst/>
          </a:prstGeom>
          <a:noFill/>
        </p:spPr>
        <p:txBody>
          <a:bodyPr wrap="square" lIns="0" rIns="0" tIns="0" bIns="0" anchor="t">
            <a:spAutoFit/>
          </a:bodyPr>
          <a:lstStyle/>
          <a:p>
            <a:pPr algn="l">
              <a:lnSpc>
                <a:spcPct val="125000"/>
              </a:lnSpc>
            </a:pPr>
            <a:r>
              <a:rPr sz="1250" b="0">
                <a:solidFill>
                  <a:srgbClr val="48595B"/>
                </a:solidFill>
                <a:latin typeface="Calibri"/>
              </a:rPr>
              <a:t>A photo of an Indian prescription or lab report — printed or handwritten, often code-mixed, variable quality.</a:t>
            </a:r>
          </a:p>
        </p:txBody>
      </p:sp>
      <p:sp>
        <p:nvSpPr>
          <p:cNvPr id="9" name="Right Arrow 8"/>
          <p:cNvSpPr/>
          <p:nvPr/>
        </p:nvSpPr>
        <p:spPr>
          <a:xfrm>
            <a:off x="4114800" y="2322576"/>
            <a:ext cx="457200" cy="292608"/>
          </a:xfrm>
          <a:prstGeom prst="rightArrow">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0" y="1801368"/>
            <a:ext cx="3931920" cy="1417320"/>
          </a:xfrm>
          <a:prstGeom prst="roundRect">
            <a:avLst>
              <a:gd name="adj" fmla="val 6000"/>
            </a:avLst>
          </a:prstGeom>
          <a:solidFill>
            <a:srgbClr val="FFFFFF"/>
          </a:solidFill>
          <a:ln w="1778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984248"/>
            <a:ext cx="3474720" cy="228600"/>
          </a:xfrm>
          <a:prstGeom prst="rect">
            <a:avLst/>
          </a:prstGeom>
          <a:noFill/>
        </p:spPr>
        <p:txBody>
          <a:bodyPr wrap="square" lIns="0" rIns="0" tIns="0" bIns="0" anchor="t">
            <a:spAutoFit/>
          </a:bodyPr>
          <a:lstStyle/>
          <a:p>
            <a:pPr algn="l">
              <a:lnSpc>
                <a:spcPct val="100000"/>
              </a:lnSpc>
            </a:pPr>
            <a:r>
              <a:rPr sz="950" b="1" spc="140">
                <a:solidFill>
                  <a:srgbClr val="0B6E77"/>
                </a:solidFill>
                <a:latin typeface="Consolas"/>
              </a:rPr>
              <a:t>OUTPUT</a:t>
            </a:r>
          </a:p>
        </p:txBody>
      </p:sp>
      <p:sp>
        <p:nvSpPr>
          <p:cNvPr id="12" name="TextBox 11"/>
          <p:cNvSpPr txBox="1"/>
          <p:nvPr/>
        </p:nvSpPr>
        <p:spPr>
          <a:xfrm>
            <a:off x="5010912" y="2258568"/>
            <a:ext cx="3474720" cy="868680"/>
          </a:xfrm>
          <a:prstGeom prst="rect">
            <a:avLst/>
          </a:prstGeom>
          <a:noFill/>
        </p:spPr>
        <p:txBody>
          <a:bodyPr wrap="square" lIns="0" rIns="0" tIns="0" bIns="0" anchor="t">
            <a:spAutoFit/>
          </a:bodyPr>
          <a:lstStyle/>
          <a:p>
            <a:pPr algn="l">
              <a:lnSpc>
                <a:spcPct val="122000"/>
              </a:lnSpc>
            </a:pPr>
            <a:r>
              <a:rPr sz="1250" b="0">
                <a:solidFill>
                  <a:srgbClr val="48595B"/>
                </a:solidFill>
                <a:latin typeface="Calibri"/>
              </a:rPr>
              <a:t>A structured record — drug, brand, generic, strength, frequency, duration, diagnosis, lab values — folded into a running summary where every fact cites the document it came from.</a:t>
            </a:r>
          </a:p>
        </p:txBody>
      </p:sp>
      <p:sp>
        <p:nvSpPr>
          <p:cNvPr id="13" name="Rounded Rectangle 12"/>
          <p:cNvSpPr/>
          <p:nvPr/>
        </p:nvSpPr>
        <p:spPr>
          <a:xfrm>
            <a:off x="8887968" y="1801368"/>
            <a:ext cx="2788920" cy="1417320"/>
          </a:xfrm>
          <a:prstGeom prst="roundRect">
            <a:avLst>
              <a:gd name="adj" fmla="val 6000"/>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1984248"/>
            <a:ext cx="2377440" cy="228600"/>
          </a:xfrm>
          <a:prstGeom prst="rect">
            <a:avLst/>
          </a:prstGeom>
          <a:noFill/>
        </p:spPr>
        <p:txBody>
          <a:bodyPr wrap="square" lIns="0" rIns="0" tIns="0" bIns="0" anchor="t">
            <a:spAutoFit/>
          </a:bodyPr>
          <a:lstStyle/>
          <a:p>
            <a:pPr algn="l">
              <a:lnSpc>
                <a:spcPct val="100000"/>
              </a:lnSpc>
            </a:pPr>
            <a:r>
              <a:rPr sz="950" b="1" spc="120">
                <a:solidFill>
                  <a:srgbClr val="FFFFFF"/>
                </a:solidFill>
                <a:latin typeface="Consolas"/>
              </a:rPr>
              <a:t>HARD CONSTRAINT</a:t>
            </a:r>
          </a:p>
        </p:txBody>
      </p:sp>
      <p:sp>
        <p:nvSpPr>
          <p:cNvPr id="15" name="TextBox 14"/>
          <p:cNvSpPr txBox="1"/>
          <p:nvPr/>
        </p:nvSpPr>
        <p:spPr>
          <a:xfrm>
            <a:off x="9125712" y="2286000"/>
            <a:ext cx="2377440" cy="822960"/>
          </a:xfrm>
          <a:prstGeom prst="rect">
            <a:avLst/>
          </a:prstGeom>
          <a:noFill/>
        </p:spPr>
        <p:txBody>
          <a:bodyPr wrap="square" lIns="0" rIns="0" tIns="0" bIns="0" anchor="t">
            <a:spAutoFit/>
          </a:bodyPr>
          <a:lstStyle/>
          <a:p>
            <a:pPr algn="l">
              <a:lnSpc>
                <a:spcPct val="130000"/>
              </a:lnSpc>
            </a:pPr>
            <a:r>
              <a:rPr sz="1300" b="1">
                <a:solidFill>
                  <a:srgbClr val="FFFFFF"/>
                </a:solidFill>
                <a:latin typeface="Calibri"/>
              </a:rPr>
              <a:t>All of it on the phone.</a:t>
            </a:r>
          </a:p>
          <a:p>
            <a:pPr algn="l">
              <a:lnSpc>
                <a:spcPct val="130000"/>
              </a:lnSpc>
            </a:pPr>
            <a:r>
              <a:rPr sz="1300" b="1">
                <a:solidFill>
                  <a:srgbClr val="FFFFFF"/>
                </a:solidFill>
                <a:latin typeface="Calibri"/>
              </a:rPr>
              <a:t>No network call may carry a patient's data.</a:t>
            </a:r>
          </a:p>
        </p:txBody>
      </p:sp>
      <p:sp>
        <p:nvSpPr>
          <p:cNvPr id="16" name="TextBox 15"/>
          <p:cNvSpPr txBox="1"/>
          <p:nvPr/>
        </p:nvSpPr>
        <p:spPr>
          <a:xfrm>
            <a:off x="658368" y="3511296"/>
            <a:ext cx="10881360" cy="274320"/>
          </a:xfrm>
          <a:prstGeom prst="rect">
            <a:avLst/>
          </a:prstGeom>
          <a:noFill/>
        </p:spPr>
        <p:txBody>
          <a:bodyPr wrap="square" lIns="0" rIns="0" tIns="0" bIns="0" anchor="t">
            <a:spAutoFit/>
          </a:bodyPr>
          <a:lstStyle/>
          <a:p>
            <a:pPr algn="l">
              <a:lnSpc>
                <a:spcPct val="100000"/>
              </a:lnSpc>
            </a:pPr>
            <a:r>
              <a:rPr sz="950" b="1" spc="130">
                <a:solidFill>
                  <a:srgbClr val="78898B"/>
                </a:solidFill>
                <a:latin typeface="Consolas"/>
              </a:rPr>
              <a:t>WHAT MAKES IT DIFFICULT</a:t>
            </a:r>
          </a:p>
        </p:txBody>
      </p:sp>
      <p:sp>
        <p:nvSpPr>
          <p:cNvPr id="17" name="Rounded Rectangle 16"/>
          <p:cNvSpPr/>
          <p:nvPr/>
        </p:nvSpPr>
        <p:spPr>
          <a:xfrm>
            <a:off x="658368" y="3840480"/>
            <a:ext cx="3429000" cy="45720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3968496"/>
            <a:ext cx="3108960" cy="237744"/>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No public Indian prescription dataset exists</a:t>
            </a:r>
          </a:p>
        </p:txBody>
      </p:sp>
      <p:sp>
        <p:nvSpPr>
          <p:cNvPr id="19" name="Rounded Rectangle 18"/>
          <p:cNvSpPr/>
          <p:nvPr/>
        </p:nvSpPr>
        <p:spPr>
          <a:xfrm>
            <a:off x="4315968" y="3840480"/>
            <a:ext cx="3429000" cy="45720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8" y="3968496"/>
            <a:ext cx="3108960" cy="237744"/>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OCR on handwriting and carbon copies</a:t>
            </a:r>
          </a:p>
        </p:txBody>
      </p:sp>
      <p:sp>
        <p:nvSpPr>
          <p:cNvPr id="21" name="Rounded Rectangle 20"/>
          <p:cNvSpPr/>
          <p:nvPr/>
        </p:nvSpPr>
        <p:spPr>
          <a:xfrm>
            <a:off x="7973568" y="3840480"/>
            <a:ext cx="3429000" cy="45720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3968496"/>
            <a:ext cx="3108960" cy="237744"/>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Devanagari vowel signs break naive tokenisers</a:t>
            </a:r>
          </a:p>
        </p:txBody>
      </p:sp>
      <p:sp>
        <p:nvSpPr>
          <p:cNvPr id="23" name="Rounded Rectangle 22"/>
          <p:cNvSpPr/>
          <p:nvPr/>
        </p:nvSpPr>
        <p:spPr>
          <a:xfrm>
            <a:off x="658368" y="4407408"/>
            <a:ext cx="3429000" cy="45720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4535424"/>
            <a:ext cx="3108960" cy="237744"/>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RxNorm barely covers Indian brand names</a:t>
            </a:r>
          </a:p>
        </p:txBody>
      </p:sp>
      <p:sp>
        <p:nvSpPr>
          <p:cNvPr id="25" name="Rounded Rectangle 24"/>
          <p:cNvSpPr/>
          <p:nvPr/>
        </p:nvSpPr>
        <p:spPr>
          <a:xfrm>
            <a:off x="4315968" y="4407408"/>
            <a:ext cx="3429000" cy="45720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4535424"/>
            <a:ext cx="3108960" cy="237744"/>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A phone's memory and compute ceiling</a:t>
            </a:r>
          </a:p>
        </p:txBody>
      </p:sp>
      <p:sp>
        <p:nvSpPr>
          <p:cNvPr id="27" name="Rounded Rectangle 26"/>
          <p:cNvSpPr/>
          <p:nvPr/>
        </p:nvSpPr>
        <p:spPr>
          <a:xfrm>
            <a:off x="7973568" y="4407408"/>
            <a:ext cx="3429000" cy="45720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56448" y="4535424"/>
            <a:ext cx="3108960" cy="237744"/>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A summary that invents a dose is dangerous</a:t>
            </a:r>
          </a:p>
        </p:txBody>
      </p:sp>
      <p:sp>
        <p:nvSpPr>
          <p:cNvPr id="29" name="TextBox 28"/>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30" name="TextBox 29"/>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04   LITERATURE SURVEY</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Existing work, grouped by what it contributes to this pipeline.</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10881360" cy="426110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856232"/>
            <a:ext cx="1234440"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AREA</a:t>
            </a:r>
          </a:p>
        </p:txBody>
      </p:sp>
      <p:sp>
        <p:nvSpPr>
          <p:cNvPr id="8" name="TextBox 7"/>
          <p:cNvSpPr txBox="1"/>
          <p:nvPr/>
        </p:nvSpPr>
        <p:spPr>
          <a:xfrm>
            <a:off x="2203704" y="1856232"/>
            <a:ext cx="2606039"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WORK</a:t>
            </a:r>
          </a:p>
        </p:txBody>
      </p:sp>
      <p:sp>
        <p:nvSpPr>
          <p:cNvPr id="9" name="TextBox 8"/>
          <p:cNvSpPr txBox="1"/>
          <p:nvPr/>
        </p:nvSpPr>
        <p:spPr>
          <a:xfrm>
            <a:off x="4992624" y="1856232"/>
            <a:ext cx="3246120"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WHAT IT GIVES US</a:t>
            </a:r>
          </a:p>
        </p:txBody>
      </p:sp>
      <p:sp>
        <p:nvSpPr>
          <p:cNvPr id="10" name="TextBox 9"/>
          <p:cNvSpPr txBox="1"/>
          <p:nvPr/>
        </p:nvSpPr>
        <p:spPr>
          <a:xfrm>
            <a:off x="8421624" y="1856232"/>
            <a:ext cx="3063239"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LIMITATION HERE</a:t>
            </a:r>
          </a:p>
        </p:txBody>
      </p:sp>
      <p:sp>
        <p:nvSpPr>
          <p:cNvPr id="11" name="Rectangle 10"/>
          <p:cNvSpPr/>
          <p:nvPr/>
        </p:nvSpPr>
        <p:spPr>
          <a:xfrm>
            <a:off x="658368" y="2084832"/>
            <a:ext cx="10881360" cy="9144"/>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176272"/>
            <a:ext cx="123444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onsolas"/>
              </a:rPr>
              <a:t>Biomedical LM</a:t>
            </a:r>
          </a:p>
        </p:txBody>
      </p:sp>
      <p:sp>
        <p:nvSpPr>
          <p:cNvPr id="13" name="TextBox 12"/>
          <p:cNvSpPr txBox="1"/>
          <p:nvPr/>
        </p:nvSpPr>
        <p:spPr>
          <a:xfrm>
            <a:off x="2203704" y="2176272"/>
            <a:ext cx="26060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BioBERT (Lee et al., 2020)</a:t>
            </a:r>
          </a:p>
          <a:p>
            <a:pPr algn="l">
              <a:lnSpc>
                <a:spcPct val="105000"/>
              </a:lnSpc>
            </a:pPr>
            <a:r>
              <a:rPr sz="1100" b="0">
                <a:solidFill>
                  <a:srgbClr val="48595B"/>
                </a:solidFill>
                <a:latin typeface="Calibri"/>
              </a:rPr>
              <a:t>PubMedBERT (Gu et al., 2021)</a:t>
            </a:r>
          </a:p>
        </p:txBody>
      </p:sp>
      <p:sp>
        <p:nvSpPr>
          <p:cNvPr id="14" name="TextBox 13"/>
          <p:cNvSpPr txBox="1"/>
          <p:nvPr/>
        </p:nvSpPr>
        <p:spPr>
          <a:xfrm>
            <a:off x="4992624" y="2176272"/>
            <a:ext cx="324612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Pretrained encoders for biomedical text</a:t>
            </a:r>
          </a:p>
        </p:txBody>
      </p:sp>
      <p:sp>
        <p:nvSpPr>
          <p:cNvPr id="15" name="TextBox 14"/>
          <p:cNvSpPr txBox="1"/>
          <p:nvPr/>
        </p:nvSpPr>
        <p:spPr>
          <a:xfrm>
            <a:off x="8421624" y="2176272"/>
            <a:ext cx="30632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Trained on English research abstracts, not Indian clinical notes</a:t>
            </a:r>
          </a:p>
        </p:txBody>
      </p:sp>
      <p:sp>
        <p:nvSpPr>
          <p:cNvPr id="16" name="Rectangle 15"/>
          <p:cNvSpPr/>
          <p:nvPr/>
        </p:nvSpPr>
        <p:spPr>
          <a:xfrm>
            <a:off x="658368" y="2743200"/>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834640"/>
            <a:ext cx="123444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onsolas"/>
              </a:rPr>
              <a:t>Clinical LM</a:t>
            </a:r>
          </a:p>
        </p:txBody>
      </p:sp>
      <p:sp>
        <p:nvSpPr>
          <p:cNvPr id="18" name="TextBox 17"/>
          <p:cNvSpPr txBox="1"/>
          <p:nvPr/>
        </p:nvSpPr>
        <p:spPr>
          <a:xfrm>
            <a:off x="2203704" y="2834640"/>
            <a:ext cx="26060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ClinicalBERT (Alsentzer et al., 2019)</a:t>
            </a:r>
          </a:p>
        </p:txBody>
      </p:sp>
      <p:sp>
        <p:nvSpPr>
          <p:cNvPr id="19" name="TextBox 18"/>
          <p:cNvSpPr txBox="1"/>
          <p:nvPr/>
        </p:nvSpPr>
        <p:spPr>
          <a:xfrm>
            <a:off x="4992624" y="2834640"/>
            <a:ext cx="324612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Adapted to real clinical notes</a:t>
            </a:r>
          </a:p>
        </p:txBody>
      </p:sp>
      <p:sp>
        <p:nvSpPr>
          <p:cNvPr id="20" name="TextBox 19"/>
          <p:cNvSpPr txBox="1"/>
          <p:nvPr/>
        </p:nvSpPr>
        <p:spPr>
          <a:xfrm>
            <a:off x="8421624" y="2834640"/>
            <a:ext cx="30632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Built on US hospital records (MIMIC)</a:t>
            </a:r>
          </a:p>
        </p:txBody>
      </p:sp>
      <p:sp>
        <p:nvSpPr>
          <p:cNvPr id="21" name="Rectangle 20"/>
          <p:cNvSpPr/>
          <p:nvPr/>
        </p:nvSpPr>
        <p:spPr>
          <a:xfrm>
            <a:off x="658368" y="3401568"/>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493008"/>
            <a:ext cx="123444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onsolas"/>
              </a:rPr>
              <a:t>Benchmarks</a:t>
            </a:r>
          </a:p>
        </p:txBody>
      </p:sp>
      <p:sp>
        <p:nvSpPr>
          <p:cNvPr id="23" name="TextBox 22"/>
          <p:cNvSpPr txBox="1"/>
          <p:nvPr/>
        </p:nvSpPr>
        <p:spPr>
          <a:xfrm>
            <a:off x="2203704" y="3493008"/>
            <a:ext cx="26060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i2b2 / n2c2 (Uzuner et al., 2011)</a:t>
            </a:r>
          </a:p>
          <a:p>
            <a:pPr algn="l">
              <a:lnSpc>
                <a:spcPct val="105000"/>
              </a:lnSpc>
            </a:pPr>
            <a:r>
              <a:rPr sz="1100" b="0">
                <a:solidFill>
                  <a:srgbClr val="48595B"/>
                </a:solidFill>
                <a:latin typeface="Calibri"/>
              </a:rPr>
              <a:t>BC5CDR (Li et al., 2016)</a:t>
            </a:r>
          </a:p>
        </p:txBody>
      </p:sp>
      <p:sp>
        <p:nvSpPr>
          <p:cNvPr id="24" name="TextBox 23"/>
          <p:cNvSpPr txBox="1"/>
          <p:nvPr/>
        </p:nvSpPr>
        <p:spPr>
          <a:xfrm>
            <a:off x="4992624" y="3493008"/>
            <a:ext cx="324612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Standard tasks for medication and</a:t>
            </a:r>
          </a:p>
          <a:p>
            <a:pPr algn="l">
              <a:lnSpc>
                <a:spcPct val="105000"/>
              </a:lnSpc>
            </a:pPr>
            <a:r>
              <a:rPr sz="1100" b="0">
                <a:solidFill>
                  <a:srgbClr val="48595B"/>
                </a:solidFill>
                <a:latin typeface="Calibri"/>
              </a:rPr>
              <a:t>relation extraction</a:t>
            </a:r>
          </a:p>
        </p:txBody>
      </p:sp>
      <p:sp>
        <p:nvSpPr>
          <p:cNvPr id="25" name="TextBox 24"/>
          <p:cNvSpPr txBox="1"/>
          <p:nvPr/>
        </p:nvSpPr>
        <p:spPr>
          <a:xfrm>
            <a:off x="8421624" y="3493008"/>
            <a:ext cx="30632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English, US, and access-restricted</a:t>
            </a:r>
          </a:p>
        </p:txBody>
      </p:sp>
      <p:sp>
        <p:nvSpPr>
          <p:cNvPr id="26" name="Rectangle 25"/>
          <p:cNvSpPr/>
          <p:nvPr/>
        </p:nvSpPr>
        <p:spPr>
          <a:xfrm>
            <a:off x="658368" y="4059936"/>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151376"/>
            <a:ext cx="123444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onsolas"/>
              </a:rPr>
              <a:t>Toolkit</a:t>
            </a:r>
          </a:p>
        </p:txBody>
      </p:sp>
      <p:sp>
        <p:nvSpPr>
          <p:cNvPr id="28" name="TextBox 27"/>
          <p:cNvSpPr txBox="1"/>
          <p:nvPr/>
        </p:nvSpPr>
        <p:spPr>
          <a:xfrm>
            <a:off x="2203704" y="4151376"/>
            <a:ext cx="26060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ScispaCy (Neumann et al., 2019)</a:t>
            </a:r>
          </a:p>
        </p:txBody>
      </p:sp>
      <p:sp>
        <p:nvSpPr>
          <p:cNvPr id="29" name="TextBox 28"/>
          <p:cNvSpPr txBox="1"/>
          <p:nvPr/>
        </p:nvSpPr>
        <p:spPr>
          <a:xfrm>
            <a:off x="4992624" y="4151376"/>
            <a:ext cx="324612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Fast biomedical NER and concept linking</a:t>
            </a:r>
          </a:p>
        </p:txBody>
      </p:sp>
      <p:sp>
        <p:nvSpPr>
          <p:cNvPr id="30" name="TextBox 29"/>
          <p:cNvSpPr txBox="1"/>
          <p:nvPr/>
        </p:nvSpPr>
        <p:spPr>
          <a:xfrm>
            <a:off x="8421624" y="4151376"/>
            <a:ext cx="30632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Vocabulary is UMLS/RxNorm — US-centric</a:t>
            </a:r>
          </a:p>
        </p:txBody>
      </p:sp>
      <p:sp>
        <p:nvSpPr>
          <p:cNvPr id="31" name="Rectangle 30"/>
          <p:cNvSpPr/>
          <p:nvPr/>
        </p:nvSpPr>
        <p:spPr>
          <a:xfrm>
            <a:off x="658368" y="4718304"/>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4809744"/>
            <a:ext cx="123444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onsolas"/>
              </a:rPr>
              <a:t>Indic NLP</a:t>
            </a:r>
          </a:p>
        </p:txBody>
      </p:sp>
      <p:sp>
        <p:nvSpPr>
          <p:cNvPr id="33" name="TextBox 32"/>
          <p:cNvSpPr txBox="1"/>
          <p:nvPr/>
        </p:nvSpPr>
        <p:spPr>
          <a:xfrm>
            <a:off x="2203704" y="4809744"/>
            <a:ext cx="26060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Lightweight Hindi Stemmer</a:t>
            </a:r>
          </a:p>
          <a:p>
            <a:pPr algn="l">
              <a:lnSpc>
                <a:spcPct val="105000"/>
              </a:lnSpc>
            </a:pPr>
            <a:r>
              <a:rPr sz="1100" b="0">
                <a:solidFill>
                  <a:srgbClr val="48595B"/>
                </a:solidFill>
                <a:latin typeface="Calibri"/>
              </a:rPr>
              <a:t>(Ramanathan &amp; Rao, 2003)</a:t>
            </a:r>
          </a:p>
        </p:txBody>
      </p:sp>
      <p:sp>
        <p:nvSpPr>
          <p:cNvPr id="34" name="TextBox 33"/>
          <p:cNvSpPr txBox="1"/>
          <p:nvPr/>
        </p:nvSpPr>
        <p:spPr>
          <a:xfrm>
            <a:off x="4992624" y="4809744"/>
            <a:ext cx="324612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Suffix-stripping for Devanagari</a:t>
            </a:r>
          </a:p>
        </p:txBody>
      </p:sp>
      <p:sp>
        <p:nvSpPr>
          <p:cNvPr id="35" name="TextBox 34"/>
          <p:cNvSpPr txBox="1"/>
          <p:nvPr/>
        </p:nvSpPr>
        <p:spPr>
          <a:xfrm>
            <a:off x="8421624" y="4809744"/>
            <a:ext cx="30632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General-purpose, not medical</a:t>
            </a:r>
          </a:p>
        </p:txBody>
      </p:sp>
      <p:sp>
        <p:nvSpPr>
          <p:cNvPr id="36" name="Rectangle 35"/>
          <p:cNvSpPr/>
          <p:nvPr/>
        </p:nvSpPr>
        <p:spPr>
          <a:xfrm>
            <a:off x="658368" y="5376672"/>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5468112"/>
            <a:ext cx="1234440"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onsolas"/>
              </a:rPr>
              <a:t>Indian Rx</a:t>
            </a:r>
          </a:p>
        </p:txBody>
      </p:sp>
      <p:sp>
        <p:nvSpPr>
          <p:cNvPr id="38" name="TextBox 37"/>
          <p:cNvSpPr txBox="1"/>
          <p:nvPr/>
        </p:nvSpPr>
        <p:spPr>
          <a:xfrm>
            <a:off x="2203704" y="5468112"/>
            <a:ext cx="2606039" cy="566928"/>
          </a:xfrm>
          <a:prstGeom prst="rect">
            <a:avLst/>
          </a:prstGeom>
          <a:noFill/>
        </p:spPr>
        <p:txBody>
          <a:bodyPr wrap="square" lIns="0" rIns="0" tIns="0" bIns="0" anchor="t">
            <a:spAutoFit/>
          </a:bodyPr>
          <a:lstStyle/>
          <a:p>
            <a:pPr algn="l">
              <a:lnSpc>
                <a:spcPct val="105000"/>
              </a:lnSpc>
            </a:pPr>
            <a:r>
              <a:rPr sz="1100" b="0">
                <a:solidFill>
                  <a:srgbClr val="48595B"/>
                </a:solidFill>
                <a:latin typeface="Calibri"/>
              </a:rPr>
              <a:t>MIRAGE (arXiv:2410.09729)</a:t>
            </a:r>
          </a:p>
        </p:txBody>
      </p:sp>
      <p:sp>
        <p:nvSpPr>
          <p:cNvPr id="39" name="TextBox 38"/>
          <p:cNvSpPr txBox="1"/>
          <p:nvPr/>
        </p:nvSpPr>
        <p:spPr>
          <a:xfrm>
            <a:off x="4992624" y="5468112"/>
            <a:ext cx="3246120" cy="566928"/>
          </a:xfrm>
          <a:prstGeom prst="rect">
            <a:avLst/>
          </a:prstGeom>
          <a:noFill/>
        </p:spPr>
        <p:txBody>
          <a:bodyPr wrap="square" lIns="0" rIns="0" tIns="0" bIns="0" anchor="t">
            <a:spAutoFit/>
          </a:bodyPr>
          <a:lstStyle/>
          <a:p>
            <a:pPr algn="l">
              <a:lnSpc>
                <a:spcPct val="105000"/>
              </a:lnSpc>
            </a:pPr>
            <a:r>
              <a:rPr sz="1100" b="1">
                <a:solidFill>
                  <a:srgbClr val="14201F"/>
                </a:solidFill>
                <a:latin typeface="Calibri"/>
              </a:rPr>
              <a:t>743k prescriptions, 21,075 brands —</a:t>
            </a:r>
          </a:p>
          <a:p>
            <a:pPr algn="l">
              <a:lnSpc>
                <a:spcPct val="105000"/>
              </a:lnSpc>
            </a:pPr>
            <a:r>
              <a:rPr sz="1100" b="1">
                <a:solidFill>
                  <a:srgbClr val="14201F"/>
                </a:solidFill>
                <a:latin typeface="Calibri"/>
              </a:rPr>
              <a:t>the closest work to ours</a:t>
            </a:r>
          </a:p>
        </p:txBody>
      </p:sp>
      <p:sp>
        <p:nvSpPr>
          <p:cNvPr id="40" name="TextBox 39"/>
          <p:cNvSpPr txBox="1"/>
          <p:nvPr/>
        </p:nvSpPr>
        <p:spPr>
          <a:xfrm>
            <a:off x="8421624" y="5468112"/>
            <a:ext cx="3063239" cy="566928"/>
          </a:xfrm>
          <a:prstGeom prst="rect">
            <a:avLst/>
          </a:prstGeom>
          <a:noFill/>
        </p:spPr>
        <p:txBody>
          <a:bodyPr wrap="square" lIns="0" rIns="0" tIns="0" bIns="0" anchor="t">
            <a:spAutoFit/>
          </a:bodyPr>
          <a:lstStyle/>
          <a:p>
            <a:pPr algn="l">
              <a:lnSpc>
                <a:spcPct val="105000"/>
              </a:lnSpc>
            </a:pPr>
            <a:r>
              <a:rPr sz="1100" b="1">
                <a:solidFill>
                  <a:srgbClr val="A33A2A"/>
                </a:solidFill>
                <a:latin typeface="Calibri"/>
              </a:rPr>
              <a:t>Published, but no data release.</a:t>
            </a:r>
          </a:p>
          <a:p>
            <a:pPr algn="l">
              <a:lnSpc>
                <a:spcPct val="105000"/>
              </a:lnSpc>
            </a:pPr>
            <a:r>
              <a:rPr sz="1100" b="1">
                <a:solidFill>
                  <a:srgbClr val="A33A2A"/>
                </a:solidFill>
                <a:latin typeface="Calibri"/>
              </a:rPr>
              <a:t>Unavailable to build on</a:t>
            </a:r>
          </a:p>
        </p:txBody>
      </p:sp>
      <p:sp>
        <p:nvSpPr>
          <p:cNvPr id="41" name="TextBox 40"/>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42" name="TextBox 41"/>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05   RESEARCH GAPS</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Five gaps. We take on three.</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10881360" cy="676656"/>
          </a:xfrm>
          <a:prstGeom prst="roundRect">
            <a:avLst>
              <a:gd name="adj" fmla="val 6000"/>
            </a:avLst>
          </a:prstGeom>
          <a:solidFill>
            <a:srgbClr val="FFFFFF"/>
          </a:solidFill>
          <a:ln w="1778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56816"/>
            <a:ext cx="365760" cy="320040"/>
          </a:xfrm>
          <a:prstGeom prst="rect">
            <a:avLst/>
          </a:prstGeom>
          <a:noFill/>
        </p:spPr>
        <p:txBody>
          <a:bodyPr wrap="square" lIns="0" rIns="0" tIns="0" bIns="0" anchor="t">
            <a:spAutoFit/>
          </a:bodyPr>
          <a:lstStyle/>
          <a:p>
            <a:pPr algn="l">
              <a:lnSpc>
                <a:spcPct val="100000"/>
              </a:lnSpc>
            </a:pPr>
            <a:r>
              <a:rPr sz="1700" b="1">
                <a:solidFill>
                  <a:srgbClr val="0B6E77"/>
                </a:solidFill>
                <a:latin typeface="Consolas"/>
              </a:rPr>
              <a:t>1</a:t>
            </a:r>
          </a:p>
        </p:txBody>
      </p:sp>
      <p:sp>
        <p:nvSpPr>
          <p:cNvPr id="8" name="TextBox 7"/>
          <p:cNvSpPr txBox="1"/>
          <p:nvPr/>
        </p:nvSpPr>
        <p:spPr>
          <a:xfrm>
            <a:off x="1371600" y="1874520"/>
            <a:ext cx="667512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Biomedical models are English and US-centric</a:t>
            </a:r>
          </a:p>
        </p:txBody>
      </p:sp>
      <p:sp>
        <p:nvSpPr>
          <p:cNvPr id="9" name="TextBox 8"/>
          <p:cNvSpPr txBox="1"/>
          <p:nvPr/>
        </p:nvSpPr>
        <p:spPr>
          <a:xfrm>
            <a:off x="1371600" y="2139696"/>
            <a:ext cx="667512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RxNorm, the standard drug vocabulary, covers Indian brand names poorly.</a:t>
            </a:r>
          </a:p>
        </p:txBody>
      </p:sp>
      <p:sp>
        <p:nvSpPr>
          <p:cNvPr id="10" name="Rounded Rectangle 9"/>
          <p:cNvSpPr/>
          <p:nvPr/>
        </p:nvSpPr>
        <p:spPr>
          <a:xfrm>
            <a:off x="9848088" y="1965960"/>
            <a:ext cx="1481328" cy="310896"/>
          </a:xfrm>
          <a:prstGeom prst="roundRect">
            <a:avLst>
              <a:gd name="adj" fmla="val 6000"/>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8" y="2029968"/>
            <a:ext cx="1481328" cy="201168"/>
          </a:xfrm>
          <a:prstGeom prst="rect">
            <a:avLst/>
          </a:prstGeom>
          <a:noFill/>
        </p:spPr>
        <p:txBody>
          <a:bodyPr wrap="square" lIns="0" rIns="0" tIns="0" bIns="0" anchor="t">
            <a:spAutoFit/>
          </a:bodyPr>
          <a:lstStyle/>
          <a:p>
            <a:pPr algn="ctr">
              <a:lnSpc>
                <a:spcPct val="100000"/>
              </a:lnSpc>
            </a:pPr>
            <a:r>
              <a:rPr sz="850" b="1" spc="60">
                <a:solidFill>
                  <a:srgbClr val="FFFFFF"/>
                </a:solidFill>
                <a:latin typeface="Consolas"/>
              </a:rPr>
              <a:t>WE ADDRESS THIS</a:t>
            </a:r>
          </a:p>
        </p:txBody>
      </p:sp>
      <p:sp>
        <p:nvSpPr>
          <p:cNvPr id="12" name="Rounded Rectangle 11"/>
          <p:cNvSpPr/>
          <p:nvPr/>
        </p:nvSpPr>
        <p:spPr>
          <a:xfrm>
            <a:off x="658368" y="2551176"/>
            <a:ext cx="10881360" cy="676656"/>
          </a:xfrm>
          <a:prstGeom prst="roundRect">
            <a:avLst>
              <a:gd name="adj" fmla="val 6000"/>
            </a:avLst>
          </a:prstGeom>
          <a:solidFill>
            <a:srgbClr val="FFFFFF"/>
          </a:solidFill>
          <a:ln w="1778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4056"/>
            <a:ext cx="365760" cy="320040"/>
          </a:xfrm>
          <a:prstGeom prst="rect">
            <a:avLst/>
          </a:prstGeom>
          <a:noFill/>
        </p:spPr>
        <p:txBody>
          <a:bodyPr wrap="square" lIns="0" rIns="0" tIns="0" bIns="0" anchor="t">
            <a:spAutoFit/>
          </a:bodyPr>
          <a:lstStyle/>
          <a:p>
            <a:pPr algn="l">
              <a:lnSpc>
                <a:spcPct val="100000"/>
              </a:lnSpc>
            </a:pPr>
            <a:r>
              <a:rPr sz="1700" b="1">
                <a:solidFill>
                  <a:srgbClr val="0B6E77"/>
                </a:solidFill>
                <a:latin typeface="Consolas"/>
              </a:rPr>
              <a:t>2</a:t>
            </a:r>
          </a:p>
        </p:txBody>
      </p:sp>
      <p:sp>
        <p:nvSpPr>
          <p:cNvPr id="14" name="TextBox 13"/>
          <p:cNvSpPr txBox="1"/>
          <p:nvPr/>
        </p:nvSpPr>
        <p:spPr>
          <a:xfrm>
            <a:off x="1371600" y="2651760"/>
            <a:ext cx="667512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No public Indian prescription corpus exists</a:t>
            </a:r>
          </a:p>
        </p:txBody>
      </p:sp>
      <p:sp>
        <p:nvSpPr>
          <p:cNvPr id="15" name="TextBox 14"/>
          <p:cNvSpPr txBox="1"/>
          <p:nvPr/>
        </p:nvSpPr>
        <p:spPr>
          <a:xfrm>
            <a:off x="1371600" y="2916936"/>
            <a:ext cx="667512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MIRAGE is published without a data release. Prescriptions are personal health data and cannot lawfully be published at scale.</a:t>
            </a:r>
          </a:p>
        </p:txBody>
      </p:sp>
      <p:sp>
        <p:nvSpPr>
          <p:cNvPr id="16" name="Rounded Rectangle 15"/>
          <p:cNvSpPr/>
          <p:nvPr/>
        </p:nvSpPr>
        <p:spPr>
          <a:xfrm>
            <a:off x="9848088" y="2743200"/>
            <a:ext cx="1481328" cy="310896"/>
          </a:xfrm>
          <a:prstGeom prst="roundRect">
            <a:avLst>
              <a:gd name="adj" fmla="val 6000"/>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48088" y="2807208"/>
            <a:ext cx="1481328" cy="201168"/>
          </a:xfrm>
          <a:prstGeom prst="rect">
            <a:avLst/>
          </a:prstGeom>
          <a:noFill/>
        </p:spPr>
        <p:txBody>
          <a:bodyPr wrap="square" lIns="0" rIns="0" tIns="0" bIns="0" anchor="t">
            <a:spAutoFit/>
          </a:bodyPr>
          <a:lstStyle/>
          <a:p>
            <a:pPr algn="ctr">
              <a:lnSpc>
                <a:spcPct val="100000"/>
              </a:lnSpc>
            </a:pPr>
            <a:r>
              <a:rPr sz="850" b="1" spc="60">
                <a:solidFill>
                  <a:srgbClr val="FFFFFF"/>
                </a:solidFill>
                <a:latin typeface="Consolas"/>
              </a:rPr>
              <a:t>WE ADDRESS THIS</a:t>
            </a:r>
          </a:p>
        </p:txBody>
      </p:sp>
      <p:sp>
        <p:nvSpPr>
          <p:cNvPr id="18" name="Rounded Rectangle 17"/>
          <p:cNvSpPr/>
          <p:nvPr/>
        </p:nvSpPr>
        <p:spPr>
          <a:xfrm>
            <a:off x="658368" y="3328416"/>
            <a:ext cx="10881360" cy="676656"/>
          </a:xfrm>
          <a:prstGeom prst="roundRect">
            <a:avLst>
              <a:gd name="adj" fmla="val 6000"/>
            </a:avLst>
          </a:prstGeom>
          <a:solidFill>
            <a:srgbClr val="F6F8F7"/>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511296"/>
            <a:ext cx="365760" cy="320040"/>
          </a:xfrm>
          <a:prstGeom prst="rect">
            <a:avLst/>
          </a:prstGeom>
          <a:noFill/>
        </p:spPr>
        <p:txBody>
          <a:bodyPr wrap="square" lIns="0" rIns="0" tIns="0" bIns="0" anchor="t">
            <a:spAutoFit/>
          </a:bodyPr>
          <a:lstStyle/>
          <a:p>
            <a:pPr algn="l">
              <a:lnSpc>
                <a:spcPct val="100000"/>
              </a:lnSpc>
            </a:pPr>
            <a:r>
              <a:rPr sz="1700" b="1">
                <a:solidFill>
                  <a:srgbClr val="78898B"/>
                </a:solidFill>
                <a:latin typeface="Consolas"/>
              </a:rPr>
              <a:t>3</a:t>
            </a:r>
          </a:p>
        </p:txBody>
      </p:sp>
      <p:sp>
        <p:nvSpPr>
          <p:cNvPr id="20" name="TextBox 19"/>
          <p:cNvSpPr txBox="1"/>
          <p:nvPr/>
        </p:nvSpPr>
        <p:spPr>
          <a:xfrm>
            <a:off x="1371600" y="3429000"/>
            <a:ext cx="667512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Code-mixed Devanagari medical text is under-served</a:t>
            </a:r>
          </a:p>
        </p:txBody>
      </p:sp>
      <p:sp>
        <p:nvSpPr>
          <p:cNvPr id="21" name="TextBox 20"/>
          <p:cNvSpPr txBox="1"/>
          <p:nvPr/>
        </p:nvSpPr>
        <p:spPr>
          <a:xfrm>
            <a:off x="1371600" y="3694176"/>
            <a:ext cx="667512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Most Indic NLP work is general-domain; most medical NLP work is English-only.</a:t>
            </a:r>
          </a:p>
        </p:txBody>
      </p:sp>
      <p:sp>
        <p:nvSpPr>
          <p:cNvPr id="22" name="Rounded Rectangle 21"/>
          <p:cNvSpPr/>
          <p:nvPr/>
        </p:nvSpPr>
        <p:spPr>
          <a:xfrm>
            <a:off x="658368" y="4105656"/>
            <a:ext cx="10881360" cy="676656"/>
          </a:xfrm>
          <a:prstGeom prst="roundRect">
            <a:avLst>
              <a:gd name="adj" fmla="val 6000"/>
            </a:avLst>
          </a:prstGeom>
          <a:solidFill>
            <a:srgbClr val="F6F8F7"/>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288536"/>
            <a:ext cx="365760" cy="320040"/>
          </a:xfrm>
          <a:prstGeom prst="rect">
            <a:avLst/>
          </a:prstGeom>
          <a:noFill/>
        </p:spPr>
        <p:txBody>
          <a:bodyPr wrap="square" lIns="0" rIns="0" tIns="0" bIns="0" anchor="t">
            <a:spAutoFit/>
          </a:bodyPr>
          <a:lstStyle/>
          <a:p>
            <a:pPr algn="l">
              <a:lnSpc>
                <a:spcPct val="100000"/>
              </a:lnSpc>
            </a:pPr>
            <a:r>
              <a:rPr sz="1700" b="1">
                <a:solidFill>
                  <a:srgbClr val="78898B"/>
                </a:solidFill>
                <a:latin typeface="Consolas"/>
              </a:rPr>
              <a:t>4</a:t>
            </a:r>
          </a:p>
        </p:txBody>
      </p:sp>
      <p:sp>
        <p:nvSpPr>
          <p:cNvPr id="24" name="TextBox 23"/>
          <p:cNvSpPr txBox="1"/>
          <p:nvPr/>
        </p:nvSpPr>
        <p:spPr>
          <a:xfrm>
            <a:off x="1371600" y="4206240"/>
            <a:ext cx="667512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Existing pipelines send data to a cloud</a:t>
            </a:r>
          </a:p>
        </p:txBody>
      </p:sp>
      <p:sp>
        <p:nvSpPr>
          <p:cNvPr id="25" name="TextBox 24"/>
          <p:cNvSpPr txBox="1"/>
          <p:nvPr/>
        </p:nvSpPr>
        <p:spPr>
          <a:xfrm>
            <a:off x="1371600" y="4471416"/>
            <a:ext cx="667512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Which conflicts directly with the DPDP Act, 2023.</a:t>
            </a:r>
          </a:p>
        </p:txBody>
      </p:sp>
      <p:sp>
        <p:nvSpPr>
          <p:cNvPr id="26" name="Rounded Rectangle 25"/>
          <p:cNvSpPr/>
          <p:nvPr/>
        </p:nvSpPr>
        <p:spPr>
          <a:xfrm>
            <a:off x="658368" y="4882896"/>
            <a:ext cx="10881360" cy="676656"/>
          </a:xfrm>
          <a:prstGeom prst="roundRect">
            <a:avLst>
              <a:gd name="adj" fmla="val 6000"/>
            </a:avLst>
          </a:prstGeom>
          <a:solidFill>
            <a:srgbClr val="FFFFFF"/>
          </a:solidFill>
          <a:ln w="1778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065776"/>
            <a:ext cx="365760" cy="320040"/>
          </a:xfrm>
          <a:prstGeom prst="rect">
            <a:avLst/>
          </a:prstGeom>
          <a:noFill/>
        </p:spPr>
        <p:txBody>
          <a:bodyPr wrap="square" lIns="0" rIns="0" tIns="0" bIns="0" anchor="t">
            <a:spAutoFit/>
          </a:bodyPr>
          <a:lstStyle/>
          <a:p>
            <a:pPr algn="l">
              <a:lnSpc>
                <a:spcPct val="100000"/>
              </a:lnSpc>
            </a:pPr>
            <a:r>
              <a:rPr sz="1700" b="1">
                <a:solidFill>
                  <a:srgbClr val="0B6E77"/>
                </a:solidFill>
                <a:latin typeface="Consolas"/>
              </a:rPr>
              <a:t>5</a:t>
            </a:r>
          </a:p>
        </p:txBody>
      </p:sp>
      <p:sp>
        <p:nvSpPr>
          <p:cNvPr id="28" name="TextBox 27"/>
          <p:cNvSpPr txBox="1"/>
          <p:nvPr/>
        </p:nvSpPr>
        <p:spPr>
          <a:xfrm>
            <a:off x="1371600" y="4983480"/>
            <a:ext cx="667512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Generated summaries lose their provenance</a:t>
            </a:r>
          </a:p>
        </p:txBody>
      </p:sp>
      <p:sp>
        <p:nvSpPr>
          <p:cNvPr id="29" name="TextBox 28"/>
          <p:cNvSpPr txBox="1"/>
          <p:nvPr/>
        </p:nvSpPr>
        <p:spPr>
          <a:xfrm>
            <a:off x="1371600" y="5248656"/>
            <a:ext cx="667512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A model that writes a summary from memory cannot say which document a claim came from.</a:t>
            </a:r>
          </a:p>
        </p:txBody>
      </p:sp>
      <p:sp>
        <p:nvSpPr>
          <p:cNvPr id="30" name="Rounded Rectangle 29"/>
          <p:cNvSpPr/>
          <p:nvPr/>
        </p:nvSpPr>
        <p:spPr>
          <a:xfrm>
            <a:off x="9848088" y="5074920"/>
            <a:ext cx="1481328" cy="310896"/>
          </a:xfrm>
          <a:prstGeom prst="roundRect">
            <a:avLst>
              <a:gd name="adj" fmla="val 6000"/>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48088" y="5138928"/>
            <a:ext cx="1481328" cy="201168"/>
          </a:xfrm>
          <a:prstGeom prst="rect">
            <a:avLst/>
          </a:prstGeom>
          <a:noFill/>
        </p:spPr>
        <p:txBody>
          <a:bodyPr wrap="square" lIns="0" rIns="0" tIns="0" bIns="0" anchor="t">
            <a:spAutoFit/>
          </a:bodyPr>
          <a:lstStyle/>
          <a:p>
            <a:pPr algn="ctr">
              <a:lnSpc>
                <a:spcPct val="100000"/>
              </a:lnSpc>
            </a:pPr>
            <a:r>
              <a:rPr sz="850" b="1" spc="60">
                <a:solidFill>
                  <a:srgbClr val="FFFFFF"/>
                </a:solidFill>
                <a:latin typeface="Consolas"/>
              </a:rPr>
              <a:t>WE ADDRESS THIS</a:t>
            </a:r>
          </a:p>
        </p:txBody>
      </p:sp>
      <p:sp>
        <p:nvSpPr>
          <p:cNvPr id="32" name="TextBox 31"/>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33" name="TextBox 32"/>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06   METHODOLOGY  ·  1 OF 5</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From the shutter to the summary — nine stages</a:t>
            </a:r>
          </a:p>
        </p:txBody>
      </p:sp>
      <p:sp>
        <p:nvSpPr>
          <p:cNvPr id="5" name="TextBox 4"/>
          <p:cNvSpPr txBox="1"/>
          <p:nvPr/>
        </p:nvSpPr>
        <p:spPr>
          <a:xfrm>
            <a:off x="658368" y="1481328"/>
            <a:ext cx="9777679" cy="457200"/>
          </a:xfrm>
          <a:prstGeom prst="rect">
            <a:avLst/>
          </a:prstGeom>
          <a:noFill/>
        </p:spPr>
        <p:txBody>
          <a:bodyPr wrap="square" lIns="0" rIns="0" tIns="0" bIns="0" anchor="t">
            <a:spAutoFit/>
          </a:bodyPr>
          <a:lstStyle/>
          <a:p>
            <a:pPr algn="l">
              <a:lnSpc>
                <a:spcPct val="115000"/>
              </a:lnSpc>
            </a:pPr>
            <a:r>
              <a:rPr sz="1400" b="0">
                <a:solidFill>
                  <a:srgbClr val="48595B"/>
                </a:solidFill>
                <a:latin typeface="Calibri"/>
              </a:rPr>
              <a:t>Stages 2 to 9 make no network call of any kind. That is a property of the build, not a policy in a document.</a:t>
            </a:r>
          </a:p>
        </p:txBody>
      </p:sp>
      <p:sp>
        <p:nvSpPr>
          <p:cNvPr id="6" name="Rectangle 5"/>
          <p:cNvSpPr/>
          <p:nvPr/>
        </p:nvSpPr>
        <p:spPr>
          <a:xfrm>
            <a:off x="658368" y="2048256"/>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04088" y="2414016"/>
            <a:ext cx="1097280" cy="118872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01</a:t>
            </a:r>
          </a:p>
        </p:txBody>
      </p:sp>
      <p:sp>
        <p:nvSpPr>
          <p:cNvPr id="9" name="TextBox 8"/>
          <p:cNvSpPr txBox="1"/>
          <p:nvPr/>
        </p:nvSpPr>
        <p:spPr>
          <a:xfrm>
            <a:off x="822960"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Capture</a:t>
            </a:r>
          </a:p>
        </p:txBody>
      </p:sp>
      <p:sp>
        <p:nvSpPr>
          <p:cNvPr id="10" name="TextBox 9"/>
          <p:cNvSpPr txBox="1"/>
          <p:nvPr/>
        </p:nvSpPr>
        <p:spPr>
          <a:xfrm>
            <a:off x="822960"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camera · file</a:t>
            </a:r>
          </a:p>
        </p:txBody>
      </p:sp>
      <p:sp>
        <p:nvSpPr>
          <p:cNvPr id="11" name="Isosceles Triangle 10"/>
          <p:cNvSpPr/>
          <p:nvPr/>
        </p:nvSpPr>
        <p:spPr>
          <a:xfrm rot="5400000">
            <a:off x="1817827"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24812"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43684"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02</a:t>
            </a:r>
          </a:p>
        </p:txBody>
      </p:sp>
      <p:sp>
        <p:nvSpPr>
          <p:cNvPr id="14" name="TextBox 13"/>
          <p:cNvSpPr txBox="1"/>
          <p:nvPr/>
        </p:nvSpPr>
        <p:spPr>
          <a:xfrm>
            <a:off x="2043684"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Encrypt</a:t>
            </a:r>
          </a:p>
        </p:txBody>
      </p:sp>
      <p:sp>
        <p:nvSpPr>
          <p:cNvPr id="15" name="TextBox 14"/>
          <p:cNvSpPr txBox="1"/>
          <p:nvPr/>
        </p:nvSpPr>
        <p:spPr>
          <a:xfrm>
            <a:off x="2043684"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before disk</a:t>
            </a:r>
          </a:p>
        </p:txBody>
      </p:sp>
      <p:sp>
        <p:nvSpPr>
          <p:cNvPr id="16" name="Isosceles Triangle 15"/>
          <p:cNvSpPr/>
          <p:nvPr/>
        </p:nvSpPr>
        <p:spPr>
          <a:xfrm rot="5400000">
            <a:off x="3038551"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45536"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64408"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03</a:t>
            </a:r>
          </a:p>
        </p:txBody>
      </p:sp>
      <p:sp>
        <p:nvSpPr>
          <p:cNvPr id="19" name="TextBox 18"/>
          <p:cNvSpPr txBox="1"/>
          <p:nvPr/>
        </p:nvSpPr>
        <p:spPr>
          <a:xfrm>
            <a:off x="3264408"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Classify</a:t>
            </a:r>
          </a:p>
        </p:txBody>
      </p:sp>
      <p:sp>
        <p:nvSpPr>
          <p:cNvPr id="20" name="TextBox 19"/>
          <p:cNvSpPr txBox="1"/>
          <p:nvPr/>
        </p:nvSpPr>
        <p:spPr>
          <a:xfrm>
            <a:off x="3264408"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7 doc types</a:t>
            </a:r>
          </a:p>
        </p:txBody>
      </p:sp>
      <p:sp>
        <p:nvSpPr>
          <p:cNvPr id="21" name="Isosceles Triangle 20"/>
          <p:cNvSpPr/>
          <p:nvPr/>
        </p:nvSpPr>
        <p:spPr>
          <a:xfrm rot="5400000">
            <a:off x="4259275"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66260"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5132"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04</a:t>
            </a:r>
          </a:p>
        </p:txBody>
      </p:sp>
      <p:sp>
        <p:nvSpPr>
          <p:cNvPr id="24" name="TextBox 23"/>
          <p:cNvSpPr txBox="1"/>
          <p:nvPr/>
        </p:nvSpPr>
        <p:spPr>
          <a:xfrm>
            <a:off x="4485132"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OCR</a:t>
            </a:r>
          </a:p>
        </p:txBody>
      </p:sp>
      <p:sp>
        <p:nvSpPr>
          <p:cNvPr id="25" name="TextBox 24"/>
          <p:cNvSpPr txBox="1"/>
          <p:nvPr/>
        </p:nvSpPr>
        <p:spPr>
          <a:xfrm>
            <a:off x="4485132"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text + boxes</a:t>
            </a:r>
          </a:p>
        </p:txBody>
      </p:sp>
      <p:sp>
        <p:nvSpPr>
          <p:cNvPr id="26" name="Isosceles Triangle 25"/>
          <p:cNvSpPr/>
          <p:nvPr/>
        </p:nvSpPr>
        <p:spPr>
          <a:xfrm rot="5400000">
            <a:off x="5479999"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586983"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05855"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05</a:t>
            </a:r>
          </a:p>
        </p:txBody>
      </p:sp>
      <p:sp>
        <p:nvSpPr>
          <p:cNvPr id="29" name="TextBox 28"/>
          <p:cNvSpPr txBox="1"/>
          <p:nvPr/>
        </p:nvSpPr>
        <p:spPr>
          <a:xfrm>
            <a:off x="5705855"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Correct</a:t>
            </a:r>
          </a:p>
        </p:txBody>
      </p:sp>
      <p:sp>
        <p:nvSpPr>
          <p:cNvPr id="30" name="TextBox 29"/>
          <p:cNvSpPr txBox="1"/>
          <p:nvPr/>
        </p:nvSpPr>
        <p:spPr>
          <a:xfrm>
            <a:off x="5705855"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closed vocab</a:t>
            </a:r>
          </a:p>
        </p:txBody>
      </p:sp>
      <p:sp>
        <p:nvSpPr>
          <p:cNvPr id="31" name="Isosceles Triangle 30"/>
          <p:cNvSpPr/>
          <p:nvPr/>
        </p:nvSpPr>
        <p:spPr>
          <a:xfrm rot="5400000">
            <a:off x="6700723"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807708"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26580"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06</a:t>
            </a:r>
          </a:p>
        </p:txBody>
      </p:sp>
      <p:sp>
        <p:nvSpPr>
          <p:cNvPr id="34" name="TextBox 33"/>
          <p:cNvSpPr txBox="1"/>
          <p:nvPr/>
        </p:nvSpPr>
        <p:spPr>
          <a:xfrm>
            <a:off x="6926580"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Extract</a:t>
            </a:r>
          </a:p>
        </p:txBody>
      </p:sp>
      <p:sp>
        <p:nvSpPr>
          <p:cNvPr id="35" name="TextBox 34"/>
          <p:cNvSpPr txBox="1"/>
          <p:nvPr/>
        </p:nvSpPr>
        <p:spPr>
          <a:xfrm>
            <a:off x="6926580"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drugs · labs</a:t>
            </a:r>
          </a:p>
        </p:txBody>
      </p:sp>
      <p:sp>
        <p:nvSpPr>
          <p:cNvPr id="36" name="Isosceles Triangle 35"/>
          <p:cNvSpPr/>
          <p:nvPr/>
        </p:nvSpPr>
        <p:spPr>
          <a:xfrm rot="5400000">
            <a:off x="7921447"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28431"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47304"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07</a:t>
            </a:r>
          </a:p>
        </p:txBody>
      </p:sp>
      <p:sp>
        <p:nvSpPr>
          <p:cNvPr id="39" name="TextBox 38"/>
          <p:cNvSpPr txBox="1"/>
          <p:nvPr/>
        </p:nvSpPr>
        <p:spPr>
          <a:xfrm>
            <a:off x="8147304"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Normalise</a:t>
            </a:r>
          </a:p>
        </p:txBody>
      </p:sp>
      <p:sp>
        <p:nvSpPr>
          <p:cNvPr id="40" name="TextBox 39"/>
          <p:cNvSpPr txBox="1"/>
          <p:nvPr/>
        </p:nvSpPr>
        <p:spPr>
          <a:xfrm>
            <a:off x="8147304"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brand→generic</a:t>
            </a:r>
          </a:p>
        </p:txBody>
      </p:sp>
      <p:sp>
        <p:nvSpPr>
          <p:cNvPr id="41" name="Isosceles Triangle 40"/>
          <p:cNvSpPr/>
          <p:nvPr/>
        </p:nvSpPr>
        <p:spPr>
          <a:xfrm rot="5400000">
            <a:off x="9142171"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249155"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68028"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08</a:t>
            </a:r>
          </a:p>
        </p:txBody>
      </p:sp>
      <p:sp>
        <p:nvSpPr>
          <p:cNvPr id="44" name="TextBox 43"/>
          <p:cNvSpPr txBox="1"/>
          <p:nvPr/>
        </p:nvSpPr>
        <p:spPr>
          <a:xfrm>
            <a:off x="9368028"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Artifacts</a:t>
            </a:r>
          </a:p>
        </p:txBody>
      </p:sp>
      <p:sp>
        <p:nvSpPr>
          <p:cNvPr id="45" name="TextBox 44"/>
          <p:cNvSpPr txBox="1"/>
          <p:nvPr/>
        </p:nvSpPr>
        <p:spPr>
          <a:xfrm>
            <a:off x="9368028"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txt · json · md</a:t>
            </a:r>
          </a:p>
        </p:txBody>
      </p:sp>
      <p:sp>
        <p:nvSpPr>
          <p:cNvPr id="46" name="Isosceles Triangle 45"/>
          <p:cNvSpPr/>
          <p:nvPr/>
        </p:nvSpPr>
        <p:spPr>
          <a:xfrm rot="5400000">
            <a:off x="10362895" y="2944368"/>
            <a:ext cx="91440" cy="137160"/>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0469880" y="2414016"/>
            <a:ext cx="1097280" cy="1188720"/>
          </a:xfrm>
          <a:prstGeom prst="roundRect">
            <a:avLst>
              <a:gd name="adj" fmla="val 6000"/>
            </a:avLst>
          </a:prstGeom>
          <a:solidFill>
            <a:srgbClr val="FFFFFF"/>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88752" y="2542032"/>
            <a:ext cx="914400" cy="182880"/>
          </a:xfrm>
          <a:prstGeom prst="rect">
            <a:avLst/>
          </a:prstGeom>
          <a:noFill/>
        </p:spPr>
        <p:txBody>
          <a:bodyPr wrap="square" lIns="0" rIns="0" tIns="0" bIns="0" anchor="t">
            <a:spAutoFit/>
          </a:bodyPr>
          <a:lstStyle/>
          <a:p>
            <a:pPr algn="l">
              <a:lnSpc>
                <a:spcPct val="100000"/>
              </a:lnSpc>
            </a:pPr>
            <a:r>
              <a:rPr sz="900" b="1" spc="100">
                <a:solidFill>
                  <a:srgbClr val="0B6E77"/>
                </a:solidFill>
                <a:latin typeface="Consolas"/>
              </a:rPr>
              <a:t>09</a:t>
            </a:r>
          </a:p>
        </p:txBody>
      </p:sp>
      <p:sp>
        <p:nvSpPr>
          <p:cNvPr id="49" name="TextBox 48"/>
          <p:cNvSpPr txBox="1"/>
          <p:nvPr/>
        </p:nvSpPr>
        <p:spPr>
          <a:xfrm>
            <a:off x="10588752" y="2761488"/>
            <a:ext cx="914400" cy="457200"/>
          </a:xfrm>
          <a:prstGeom prst="rect">
            <a:avLst/>
          </a:prstGeom>
          <a:noFill/>
        </p:spPr>
        <p:txBody>
          <a:bodyPr wrap="square" lIns="0" rIns="0" tIns="0" bIns="0" anchor="t">
            <a:spAutoFit/>
          </a:bodyPr>
          <a:lstStyle/>
          <a:p>
            <a:pPr algn="l">
              <a:lnSpc>
                <a:spcPct val="100000"/>
              </a:lnSpc>
            </a:pPr>
            <a:r>
              <a:rPr sz="1250" b="1">
                <a:solidFill>
                  <a:srgbClr val="14201F"/>
                </a:solidFill>
                <a:latin typeface="Calibri"/>
              </a:rPr>
              <a:t>Merge</a:t>
            </a:r>
          </a:p>
        </p:txBody>
      </p:sp>
      <p:sp>
        <p:nvSpPr>
          <p:cNvPr id="50" name="TextBox 49"/>
          <p:cNvSpPr txBox="1"/>
          <p:nvPr/>
        </p:nvSpPr>
        <p:spPr>
          <a:xfrm>
            <a:off x="10588752" y="3218688"/>
            <a:ext cx="914400" cy="320040"/>
          </a:xfrm>
          <a:prstGeom prst="rect">
            <a:avLst/>
          </a:prstGeom>
          <a:noFill/>
        </p:spPr>
        <p:txBody>
          <a:bodyPr wrap="square" lIns="0" rIns="0" tIns="0" bIns="0" anchor="t">
            <a:spAutoFit/>
          </a:bodyPr>
          <a:lstStyle/>
          <a:p>
            <a:pPr algn="l">
              <a:lnSpc>
                <a:spcPct val="115000"/>
              </a:lnSpc>
            </a:pPr>
            <a:r>
              <a:rPr sz="850" b="0">
                <a:solidFill>
                  <a:srgbClr val="78898B"/>
                </a:solidFill>
                <a:latin typeface="Consolas"/>
              </a:rPr>
              <a:t>into summary</a:t>
            </a:r>
          </a:p>
        </p:txBody>
      </p:sp>
      <p:sp>
        <p:nvSpPr>
          <p:cNvPr id="51" name="TextBox 50"/>
          <p:cNvSpPr txBox="1"/>
          <p:nvPr/>
        </p:nvSpPr>
        <p:spPr>
          <a:xfrm>
            <a:off x="658368" y="3739896"/>
            <a:ext cx="6400800" cy="228600"/>
          </a:xfrm>
          <a:prstGeom prst="rect">
            <a:avLst/>
          </a:prstGeom>
          <a:noFill/>
        </p:spPr>
        <p:txBody>
          <a:bodyPr wrap="square" lIns="0" rIns="0" tIns="0" bIns="0" anchor="t">
            <a:spAutoFit/>
          </a:bodyPr>
          <a:lstStyle/>
          <a:p>
            <a:pPr algn="l">
              <a:lnSpc>
                <a:spcPct val="100000"/>
              </a:lnSpc>
            </a:pPr>
            <a:r>
              <a:rPr sz="1000" b="1">
                <a:solidFill>
                  <a:srgbClr val="2E7D5B"/>
                </a:solidFill>
                <a:latin typeface="Consolas"/>
              </a:rPr>
              <a:t>■  green edge = runs entirely on the phone</a:t>
            </a:r>
          </a:p>
        </p:txBody>
      </p:sp>
      <p:sp>
        <p:nvSpPr>
          <p:cNvPr id="52" name="TextBox 51"/>
          <p:cNvSpPr txBox="1"/>
          <p:nvPr/>
        </p:nvSpPr>
        <p:spPr>
          <a:xfrm>
            <a:off x="658368" y="4197096"/>
            <a:ext cx="10881360" cy="274320"/>
          </a:xfrm>
          <a:prstGeom prst="rect">
            <a:avLst/>
          </a:prstGeom>
          <a:noFill/>
        </p:spPr>
        <p:txBody>
          <a:bodyPr wrap="square" lIns="0" rIns="0" tIns="0" bIns="0" anchor="t">
            <a:spAutoFit/>
          </a:bodyPr>
          <a:lstStyle/>
          <a:p>
            <a:pPr algn="l">
              <a:lnSpc>
                <a:spcPct val="100000"/>
              </a:lnSpc>
            </a:pPr>
            <a:r>
              <a:rPr sz="950" b="1" spc="120">
                <a:solidFill>
                  <a:srgbClr val="78898B"/>
                </a:solidFill>
                <a:latin typeface="Consolas"/>
              </a:rPr>
              <a:t>THE ONE PLACE THE USER IS ASKED ANYTHING</a:t>
            </a:r>
          </a:p>
        </p:txBody>
      </p:sp>
      <p:sp>
        <p:nvSpPr>
          <p:cNvPr id="53" name="Rounded Rectangle 52"/>
          <p:cNvSpPr/>
          <p:nvPr/>
        </p:nvSpPr>
        <p:spPr>
          <a:xfrm>
            <a:off x="658368" y="4526280"/>
            <a:ext cx="10881360" cy="960120"/>
          </a:xfrm>
          <a:prstGeom prst="roundRect">
            <a:avLst>
              <a:gd name="adj" fmla="val 6000"/>
            </a:avLst>
          </a:prstGeom>
          <a:solidFill>
            <a:srgbClr val="FFFFFF"/>
          </a:solidFill>
          <a:ln w="19050">
            <a:solidFill>
              <a:srgbClr val="B26A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688" y="4672583"/>
            <a:ext cx="10332720" cy="685800"/>
          </a:xfrm>
          <a:prstGeom prst="rect">
            <a:avLst/>
          </a:prstGeom>
          <a:noFill/>
        </p:spPr>
        <p:txBody>
          <a:bodyPr wrap="square" lIns="0" rIns="0" tIns="0" bIns="0" anchor="t">
            <a:spAutoFit/>
          </a:bodyPr>
          <a:lstStyle/>
          <a:p>
            <a:pPr algn="l">
              <a:lnSpc>
                <a:spcPct val="130000"/>
              </a:lnSpc>
            </a:pPr>
            <a:r>
              <a:rPr sz="1350" b="0">
                <a:solidFill>
                  <a:srgbClr val="48595B"/>
                </a:solidFill>
                <a:latin typeface="Calibri"/>
              </a:rPr>
              <a:t>After extraction and before anything is saved, the app shows what it read and highlights the fields it is unsure about. Nothing enters the summary unconfirmed — and any field the user corrects is pinned, so no later document can overwrite it.</a:t>
            </a:r>
          </a:p>
        </p:txBody>
      </p:sp>
      <p:sp>
        <p:nvSpPr>
          <p:cNvPr id="55" name="TextBox 54"/>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56" name="TextBox 55"/>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07   METHODOLOGY  ·  2 OF 5</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Dataset — one created, fifty-six selected</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5257800" cy="2331720"/>
          </a:xfrm>
          <a:prstGeom prst="roundRect">
            <a:avLst>
              <a:gd name="adj" fmla="val 6000"/>
            </a:avLst>
          </a:prstGeom>
          <a:solidFill>
            <a:srgbClr val="FFFFFF"/>
          </a:solidFill>
          <a:ln w="1905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56816"/>
            <a:ext cx="4754880" cy="228600"/>
          </a:xfrm>
          <a:prstGeom prst="rect">
            <a:avLst/>
          </a:prstGeom>
          <a:noFill/>
        </p:spPr>
        <p:txBody>
          <a:bodyPr wrap="square" lIns="0" rIns="0" tIns="0" bIns="0" anchor="t">
            <a:spAutoFit/>
          </a:bodyPr>
          <a:lstStyle/>
          <a:p>
            <a:pPr algn="l">
              <a:lnSpc>
                <a:spcPct val="100000"/>
              </a:lnSpc>
            </a:pPr>
            <a:r>
              <a:rPr sz="950" b="1" spc="110">
                <a:solidFill>
                  <a:srgbClr val="0B6E77"/>
                </a:solidFill>
                <a:latin typeface="Consolas"/>
              </a:rPr>
              <a:t>CREATED  ·  BECAUSE NONE EXISTS</a:t>
            </a:r>
          </a:p>
        </p:txBody>
      </p:sp>
      <p:sp>
        <p:nvSpPr>
          <p:cNvPr id="8" name="TextBox 7"/>
          <p:cNvSpPr txBox="1"/>
          <p:nvPr/>
        </p:nvSpPr>
        <p:spPr>
          <a:xfrm>
            <a:off x="932688" y="2231136"/>
            <a:ext cx="4754880" cy="384048"/>
          </a:xfrm>
          <a:prstGeom prst="rect">
            <a:avLst/>
          </a:prstGeom>
          <a:noFill/>
        </p:spPr>
        <p:txBody>
          <a:bodyPr wrap="square" lIns="0" rIns="0" tIns="0" bIns="0" anchor="t">
            <a:spAutoFit/>
          </a:bodyPr>
          <a:lstStyle/>
          <a:p>
            <a:pPr algn="l">
              <a:lnSpc>
                <a:spcPct val="100000"/>
              </a:lnSpc>
            </a:pPr>
            <a:r>
              <a:rPr sz="1900" b="1">
                <a:solidFill>
                  <a:srgbClr val="14201F"/>
                </a:solidFill>
                <a:latin typeface="Calibri"/>
              </a:rPr>
              <a:t>Synthetic Prescription Corpus</a:t>
            </a:r>
          </a:p>
        </p:txBody>
      </p:sp>
      <p:sp>
        <p:nvSpPr>
          <p:cNvPr id="9" name="TextBox 8"/>
          <p:cNvSpPr txBox="1"/>
          <p:nvPr/>
        </p:nvSpPr>
        <p:spPr>
          <a:xfrm>
            <a:off x="932688" y="2688336"/>
            <a:ext cx="2194560" cy="292608"/>
          </a:xfrm>
          <a:prstGeom prst="rect">
            <a:avLst/>
          </a:prstGeom>
          <a:noFill/>
        </p:spPr>
        <p:txBody>
          <a:bodyPr wrap="square" lIns="0" rIns="0" tIns="0" bIns="0" anchor="t">
            <a:spAutoFit/>
          </a:bodyPr>
          <a:lstStyle/>
          <a:p>
            <a:pPr algn="l">
              <a:lnSpc>
                <a:spcPct val="100000"/>
              </a:lnSpc>
            </a:pPr>
            <a:r>
              <a:rPr sz="2000" b="1">
                <a:solidFill>
                  <a:srgbClr val="0B6E77"/>
                </a:solidFill>
                <a:latin typeface="Calibri"/>
              </a:rPr>
              <a:t>24,961</a:t>
            </a:r>
          </a:p>
        </p:txBody>
      </p:sp>
      <p:sp>
        <p:nvSpPr>
          <p:cNvPr id="10" name="TextBox 9"/>
          <p:cNvSpPr txBox="1"/>
          <p:nvPr/>
        </p:nvSpPr>
        <p:spPr>
          <a:xfrm>
            <a:off x="932688" y="2962656"/>
            <a:ext cx="2194560" cy="201168"/>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prescriptions</a:t>
            </a:r>
          </a:p>
        </p:txBody>
      </p:sp>
      <p:sp>
        <p:nvSpPr>
          <p:cNvPr id="11" name="TextBox 10"/>
          <p:cNvSpPr txBox="1"/>
          <p:nvPr/>
        </p:nvSpPr>
        <p:spPr>
          <a:xfrm>
            <a:off x="3310128" y="2688336"/>
            <a:ext cx="2194560" cy="292608"/>
          </a:xfrm>
          <a:prstGeom prst="rect">
            <a:avLst/>
          </a:prstGeom>
          <a:noFill/>
        </p:spPr>
        <p:txBody>
          <a:bodyPr wrap="square" lIns="0" rIns="0" tIns="0" bIns="0" anchor="t">
            <a:spAutoFit/>
          </a:bodyPr>
          <a:lstStyle/>
          <a:p>
            <a:pPr algn="l">
              <a:lnSpc>
                <a:spcPct val="100000"/>
              </a:lnSpc>
            </a:pPr>
            <a:r>
              <a:rPr sz="2000" b="1">
                <a:solidFill>
                  <a:srgbClr val="0B6E77"/>
                </a:solidFill>
                <a:latin typeface="Calibri"/>
              </a:rPr>
              <a:t>1,000</a:t>
            </a:r>
          </a:p>
        </p:txBody>
      </p:sp>
      <p:sp>
        <p:nvSpPr>
          <p:cNvPr id="12" name="TextBox 11"/>
          <p:cNvSpPr txBox="1"/>
          <p:nvPr/>
        </p:nvSpPr>
        <p:spPr>
          <a:xfrm>
            <a:off x="3310128" y="2962656"/>
            <a:ext cx="2194560" cy="201168"/>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diseases</a:t>
            </a:r>
          </a:p>
        </p:txBody>
      </p:sp>
      <p:sp>
        <p:nvSpPr>
          <p:cNvPr id="13" name="TextBox 12"/>
          <p:cNvSpPr txBox="1"/>
          <p:nvPr/>
        </p:nvSpPr>
        <p:spPr>
          <a:xfrm>
            <a:off x="932688" y="3255264"/>
            <a:ext cx="2194560" cy="292608"/>
          </a:xfrm>
          <a:prstGeom prst="rect">
            <a:avLst/>
          </a:prstGeom>
          <a:noFill/>
        </p:spPr>
        <p:txBody>
          <a:bodyPr wrap="square" lIns="0" rIns="0" tIns="0" bIns="0" anchor="t">
            <a:spAutoFit/>
          </a:bodyPr>
          <a:lstStyle/>
          <a:p>
            <a:pPr algn="l">
              <a:lnSpc>
                <a:spcPct val="100000"/>
              </a:lnSpc>
            </a:pPr>
            <a:r>
              <a:rPr sz="2000" b="1">
                <a:solidFill>
                  <a:srgbClr val="0B6E77"/>
                </a:solidFill>
                <a:latin typeface="Calibri"/>
              </a:rPr>
              <a:t>1,026</a:t>
            </a:r>
          </a:p>
        </p:txBody>
      </p:sp>
      <p:sp>
        <p:nvSpPr>
          <p:cNvPr id="14" name="TextBox 13"/>
          <p:cNvSpPr txBox="1"/>
          <p:nvPr/>
        </p:nvSpPr>
        <p:spPr>
          <a:xfrm>
            <a:off x="932688" y="3529584"/>
            <a:ext cx="2194560" cy="201168"/>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distinct drugs</a:t>
            </a:r>
          </a:p>
        </p:txBody>
      </p:sp>
      <p:sp>
        <p:nvSpPr>
          <p:cNvPr id="15" name="TextBox 14"/>
          <p:cNvSpPr txBox="1"/>
          <p:nvPr/>
        </p:nvSpPr>
        <p:spPr>
          <a:xfrm>
            <a:off x="3310128" y="3255264"/>
            <a:ext cx="2194560" cy="292608"/>
          </a:xfrm>
          <a:prstGeom prst="rect">
            <a:avLst/>
          </a:prstGeom>
          <a:noFill/>
        </p:spPr>
        <p:txBody>
          <a:bodyPr wrap="square" lIns="0" rIns="0" tIns="0" bIns="0" anchor="t">
            <a:spAutoFit/>
          </a:bodyPr>
          <a:lstStyle/>
          <a:p>
            <a:pPr algn="l">
              <a:lnSpc>
                <a:spcPct val="100000"/>
              </a:lnSpc>
            </a:pPr>
            <a:r>
              <a:rPr sz="2000" b="1">
                <a:solidFill>
                  <a:srgbClr val="0B6E77"/>
                </a:solidFill>
                <a:latin typeface="Calibri"/>
              </a:rPr>
              <a:t>49,552</a:t>
            </a:r>
          </a:p>
        </p:txBody>
      </p:sp>
      <p:sp>
        <p:nvSpPr>
          <p:cNvPr id="16" name="TextBox 15"/>
          <p:cNvSpPr txBox="1"/>
          <p:nvPr/>
        </p:nvSpPr>
        <p:spPr>
          <a:xfrm>
            <a:off x="3310128" y="3529584"/>
            <a:ext cx="2194560" cy="201168"/>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medication lines</a:t>
            </a:r>
          </a:p>
        </p:txBody>
      </p:sp>
      <p:sp>
        <p:nvSpPr>
          <p:cNvPr id="17" name="TextBox 16"/>
          <p:cNvSpPr txBox="1"/>
          <p:nvPr/>
        </p:nvSpPr>
        <p:spPr>
          <a:xfrm>
            <a:off x="932688" y="3822191"/>
            <a:ext cx="4754880" cy="219456"/>
          </a:xfrm>
          <a:prstGeom prst="rect">
            <a:avLst/>
          </a:prstGeom>
          <a:noFill/>
        </p:spPr>
        <p:txBody>
          <a:bodyPr wrap="square" lIns="0" rIns="0" tIns="0" bIns="0" anchor="t">
            <a:spAutoFit/>
          </a:bodyPr>
          <a:lstStyle/>
          <a:p>
            <a:pPr algn="l">
              <a:lnSpc>
                <a:spcPct val="100000"/>
              </a:lnSpc>
            </a:pPr>
            <a:r>
              <a:rPr sz="1050" b="0">
                <a:solidFill>
                  <a:srgbClr val="48595B"/>
                </a:solidFill>
                <a:latin typeface="Consolas"/>
              </a:rPr>
              <a:t>built from SIDER 4.1 + openFDA + ICD-10-CM 2025</a:t>
            </a:r>
          </a:p>
        </p:txBody>
      </p:sp>
      <p:sp>
        <p:nvSpPr>
          <p:cNvPr id="18" name="Rounded Rectangle 17"/>
          <p:cNvSpPr/>
          <p:nvPr/>
        </p:nvSpPr>
        <p:spPr>
          <a:xfrm>
            <a:off x="6281928" y="1773936"/>
            <a:ext cx="5257800" cy="233172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6248" y="1956816"/>
            <a:ext cx="4754880" cy="228600"/>
          </a:xfrm>
          <a:prstGeom prst="rect">
            <a:avLst/>
          </a:prstGeom>
          <a:noFill/>
        </p:spPr>
        <p:txBody>
          <a:bodyPr wrap="square" lIns="0" rIns="0" tIns="0" bIns="0" anchor="t">
            <a:spAutoFit/>
          </a:bodyPr>
          <a:lstStyle/>
          <a:p>
            <a:pPr algn="l">
              <a:lnSpc>
                <a:spcPct val="100000"/>
              </a:lnSpc>
            </a:pPr>
            <a:r>
              <a:rPr sz="950" b="1" spc="110">
                <a:solidFill>
                  <a:srgbClr val="4A5B7A"/>
                </a:solidFill>
                <a:latin typeface="Consolas"/>
              </a:rPr>
              <a:t>SELECTED  ·  56 PUBLIC DATASETS</a:t>
            </a:r>
          </a:p>
        </p:txBody>
      </p:sp>
      <p:sp>
        <p:nvSpPr>
          <p:cNvPr id="20" name="TextBox 19"/>
          <p:cNvSpPr txBox="1"/>
          <p:nvPr/>
        </p:nvSpPr>
        <p:spPr>
          <a:xfrm>
            <a:off x="6556248" y="2322576"/>
            <a:ext cx="4023360" cy="237744"/>
          </a:xfrm>
          <a:prstGeom prst="rect">
            <a:avLst/>
          </a:prstGeom>
          <a:noFill/>
        </p:spPr>
        <p:txBody>
          <a:bodyPr wrap="square" lIns="0" rIns="0" tIns="0" bIns="0" anchor="t">
            <a:spAutoFit/>
          </a:bodyPr>
          <a:lstStyle/>
          <a:p>
            <a:pPr algn="l">
              <a:lnSpc>
                <a:spcPct val="100000"/>
              </a:lnSpc>
            </a:pPr>
            <a:r>
              <a:rPr sz="1250" b="0">
                <a:solidFill>
                  <a:srgbClr val="48595B"/>
                </a:solidFill>
                <a:latin typeface="Calibri"/>
              </a:rPr>
              <a:t>Clinical &amp; biomedical corpora</a:t>
            </a:r>
          </a:p>
        </p:txBody>
      </p:sp>
      <p:sp>
        <p:nvSpPr>
          <p:cNvPr id="21" name="TextBox 20"/>
          <p:cNvSpPr txBox="1"/>
          <p:nvPr/>
        </p:nvSpPr>
        <p:spPr>
          <a:xfrm>
            <a:off x="10625328" y="2322576"/>
            <a:ext cx="731520" cy="237744"/>
          </a:xfrm>
          <a:prstGeom prst="rect">
            <a:avLst/>
          </a:prstGeom>
          <a:noFill/>
        </p:spPr>
        <p:txBody>
          <a:bodyPr wrap="square" lIns="0" rIns="0" tIns="0" bIns="0" anchor="t">
            <a:spAutoFit/>
          </a:bodyPr>
          <a:lstStyle/>
          <a:p>
            <a:pPr algn="r">
              <a:lnSpc>
                <a:spcPct val="100000"/>
              </a:lnSpc>
            </a:pPr>
            <a:r>
              <a:rPr sz="1300" b="1">
                <a:solidFill>
                  <a:srgbClr val="14201F"/>
                </a:solidFill>
                <a:latin typeface="Consolas"/>
              </a:rPr>
              <a:t>14</a:t>
            </a:r>
          </a:p>
        </p:txBody>
      </p:sp>
      <p:sp>
        <p:nvSpPr>
          <p:cNvPr id="22" name="TextBox 21"/>
          <p:cNvSpPr txBox="1"/>
          <p:nvPr/>
        </p:nvSpPr>
        <p:spPr>
          <a:xfrm>
            <a:off x="6556248" y="2670048"/>
            <a:ext cx="4023360" cy="237744"/>
          </a:xfrm>
          <a:prstGeom prst="rect">
            <a:avLst/>
          </a:prstGeom>
          <a:noFill/>
        </p:spPr>
        <p:txBody>
          <a:bodyPr wrap="square" lIns="0" rIns="0" tIns="0" bIns="0" anchor="t">
            <a:spAutoFit/>
          </a:bodyPr>
          <a:lstStyle/>
          <a:p>
            <a:pPr algn="l">
              <a:lnSpc>
                <a:spcPct val="100000"/>
              </a:lnSpc>
            </a:pPr>
            <a:r>
              <a:rPr sz="1250" b="0">
                <a:solidFill>
                  <a:srgbClr val="48595B"/>
                </a:solidFill>
                <a:latin typeface="Calibri"/>
              </a:rPr>
              <a:t>Multilingual &amp; Indic corpora</a:t>
            </a:r>
          </a:p>
        </p:txBody>
      </p:sp>
      <p:sp>
        <p:nvSpPr>
          <p:cNvPr id="23" name="TextBox 22"/>
          <p:cNvSpPr txBox="1"/>
          <p:nvPr/>
        </p:nvSpPr>
        <p:spPr>
          <a:xfrm>
            <a:off x="10625328" y="2670048"/>
            <a:ext cx="731520" cy="237744"/>
          </a:xfrm>
          <a:prstGeom prst="rect">
            <a:avLst/>
          </a:prstGeom>
          <a:noFill/>
        </p:spPr>
        <p:txBody>
          <a:bodyPr wrap="square" lIns="0" rIns="0" tIns="0" bIns="0" anchor="t">
            <a:spAutoFit/>
          </a:bodyPr>
          <a:lstStyle/>
          <a:p>
            <a:pPr algn="r">
              <a:lnSpc>
                <a:spcPct val="100000"/>
              </a:lnSpc>
            </a:pPr>
            <a:r>
              <a:rPr sz="1300" b="1">
                <a:solidFill>
                  <a:srgbClr val="14201F"/>
                </a:solidFill>
                <a:latin typeface="Consolas"/>
              </a:rPr>
              <a:t>22</a:t>
            </a:r>
          </a:p>
        </p:txBody>
      </p:sp>
      <p:sp>
        <p:nvSpPr>
          <p:cNvPr id="24" name="TextBox 23"/>
          <p:cNvSpPr txBox="1"/>
          <p:nvPr/>
        </p:nvSpPr>
        <p:spPr>
          <a:xfrm>
            <a:off x="6556248" y="3017520"/>
            <a:ext cx="4023360" cy="237744"/>
          </a:xfrm>
          <a:prstGeom prst="rect">
            <a:avLst/>
          </a:prstGeom>
          <a:noFill/>
        </p:spPr>
        <p:txBody>
          <a:bodyPr wrap="square" lIns="0" rIns="0" tIns="0" bIns="0" anchor="t">
            <a:spAutoFit/>
          </a:bodyPr>
          <a:lstStyle/>
          <a:p>
            <a:pPr algn="l">
              <a:lnSpc>
                <a:spcPct val="100000"/>
              </a:lnSpc>
            </a:pPr>
            <a:r>
              <a:rPr sz="1250" b="0">
                <a:solidFill>
                  <a:srgbClr val="48595B"/>
                </a:solidFill>
                <a:latin typeface="Calibri"/>
              </a:rPr>
              <a:t>Drug reference data</a:t>
            </a:r>
          </a:p>
        </p:txBody>
      </p:sp>
      <p:sp>
        <p:nvSpPr>
          <p:cNvPr id="25" name="TextBox 24"/>
          <p:cNvSpPr txBox="1"/>
          <p:nvPr/>
        </p:nvSpPr>
        <p:spPr>
          <a:xfrm>
            <a:off x="10625328" y="3017520"/>
            <a:ext cx="731520" cy="237744"/>
          </a:xfrm>
          <a:prstGeom prst="rect">
            <a:avLst/>
          </a:prstGeom>
          <a:noFill/>
        </p:spPr>
        <p:txBody>
          <a:bodyPr wrap="square" lIns="0" rIns="0" tIns="0" bIns="0" anchor="t">
            <a:spAutoFit/>
          </a:bodyPr>
          <a:lstStyle/>
          <a:p>
            <a:pPr algn="r">
              <a:lnSpc>
                <a:spcPct val="100000"/>
              </a:lnSpc>
            </a:pPr>
            <a:r>
              <a:rPr sz="1300" b="1">
                <a:solidFill>
                  <a:srgbClr val="14201F"/>
                </a:solidFill>
                <a:latin typeface="Consolas"/>
              </a:rPr>
              <a:t>6</a:t>
            </a:r>
          </a:p>
        </p:txBody>
      </p:sp>
      <p:sp>
        <p:nvSpPr>
          <p:cNvPr id="26" name="TextBox 25"/>
          <p:cNvSpPr txBox="1"/>
          <p:nvPr/>
        </p:nvSpPr>
        <p:spPr>
          <a:xfrm>
            <a:off x="6556248" y="3364992"/>
            <a:ext cx="4023360" cy="237744"/>
          </a:xfrm>
          <a:prstGeom prst="rect">
            <a:avLst/>
          </a:prstGeom>
          <a:noFill/>
        </p:spPr>
        <p:txBody>
          <a:bodyPr wrap="square" lIns="0" rIns="0" tIns="0" bIns="0" anchor="t">
            <a:spAutoFit/>
          </a:bodyPr>
          <a:lstStyle/>
          <a:p>
            <a:pPr algn="l">
              <a:lnSpc>
                <a:spcPct val="100000"/>
              </a:lnSpc>
            </a:pPr>
            <a:r>
              <a:rPr sz="1250" b="0">
                <a:solidFill>
                  <a:srgbClr val="48595B"/>
                </a:solidFill>
                <a:latin typeface="Calibri"/>
              </a:rPr>
              <a:t>Terminologies &amp; ontologies</a:t>
            </a:r>
          </a:p>
        </p:txBody>
      </p:sp>
      <p:sp>
        <p:nvSpPr>
          <p:cNvPr id="27" name="TextBox 26"/>
          <p:cNvSpPr txBox="1"/>
          <p:nvPr/>
        </p:nvSpPr>
        <p:spPr>
          <a:xfrm>
            <a:off x="10625328" y="3364992"/>
            <a:ext cx="731520" cy="237744"/>
          </a:xfrm>
          <a:prstGeom prst="rect">
            <a:avLst/>
          </a:prstGeom>
          <a:noFill/>
        </p:spPr>
        <p:txBody>
          <a:bodyPr wrap="square" lIns="0" rIns="0" tIns="0" bIns="0" anchor="t">
            <a:spAutoFit/>
          </a:bodyPr>
          <a:lstStyle/>
          <a:p>
            <a:pPr algn="r">
              <a:lnSpc>
                <a:spcPct val="100000"/>
              </a:lnSpc>
            </a:pPr>
            <a:r>
              <a:rPr sz="1300" b="1">
                <a:solidFill>
                  <a:srgbClr val="14201F"/>
                </a:solidFill>
                <a:latin typeface="Consolas"/>
              </a:rPr>
              <a:t>8</a:t>
            </a:r>
          </a:p>
        </p:txBody>
      </p:sp>
      <p:sp>
        <p:nvSpPr>
          <p:cNvPr id="28" name="TextBox 27"/>
          <p:cNvSpPr txBox="1"/>
          <p:nvPr/>
        </p:nvSpPr>
        <p:spPr>
          <a:xfrm>
            <a:off x="6556248" y="3712464"/>
            <a:ext cx="4023360" cy="237744"/>
          </a:xfrm>
          <a:prstGeom prst="rect">
            <a:avLst/>
          </a:prstGeom>
          <a:noFill/>
        </p:spPr>
        <p:txBody>
          <a:bodyPr wrap="square" lIns="0" rIns="0" tIns="0" bIns="0" anchor="t">
            <a:spAutoFit/>
          </a:bodyPr>
          <a:lstStyle/>
          <a:p>
            <a:pPr algn="l">
              <a:lnSpc>
                <a:spcPct val="100000"/>
              </a:lnSpc>
            </a:pPr>
            <a:r>
              <a:rPr sz="1250" b="0">
                <a:solidFill>
                  <a:srgbClr val="48595B"/>
                </a:solidFill>
                <a:latin typeface="Calibri"/>
              </a:rPr>
              <a:t>OCR &amp; handwriting</a:t>
            </a:r>
          </a:p>
        </p:txBody>
      </p:sp>
      <p:sp>
        <p:nvSpPr>
          <p:cNvPr id="29" name="TextBox 28"/>
          <p:cNvSpPr txBox="1"/>
          <p:nvPr/>
        </p:nvSpPr>
        <p:spPr>
          <a:xfrm>
            <a:off x="10625328" y="3712464"/>
            <a:ext cx="731520" cy="237744"/>
          </a:xfrm>
          <a:prstGeom prst="rect">
            <a:avLst/>
          </a:prstGeom>
          <a:noFill/>
        </p:spPr>
        <p:txBody>
          <a:bodyPr wrap="square" lIns="0" rIns="0" tIns="0" bIns="0" anchor="t">
            <a:spAutoFit/>
          </a:bodyPr>
          <a:lstStyle/>
          <a:p>
            <a:pPr algn="r">
              <a:lnSpc>
                <a:spcPct val="100000"/>
              </a:lnSpc>
            </a:pPr>
            <a:r>
              <a:rPr sz="1300" b="1">
                <a:solidFill>
                  <a:srgbClr val="14201F"/>
                </a:solidFill>
                <a:latin typeface="Consolas"/>
              </a:rPr>
              <a:t>6</a:t>
            </a:r>
          </a:p>
        </p:txBody>
      </p:sp>
      <p:sp>
        <p:nvSpPr>
          <p:cNvPr id="30" name="TextBox 29"/>
          <p:cNvSpPr txBox="1"/>
          <p:nvPr/>
        </p:nvSpPr>
        <p:spPr>
          <a:xfrm>
            <a:off x="6556248" y="3822191"/>
            <a:ext cx="4754880" cy="219456"/>
          </a:xfrm>
          <a:prstGeom prst="rect">
            <a:avLst/>
          </a:prstGeom>
          <a:noFill/>
        </p:spPr>
        <p:txBody>
          <a:bodyPr wrap="square" lIns="0" rIns="0" tIns="0" bIns="0" anchor="t">
            <a:spAutoFit/>
          </a:bodyPr>
          <a:lstStyle/>
          <a:p>
            <a:pPr algn="l">
              <a:lnSpc>
                <a:spcPct val="100000"/>
              </a:lnSpc>
            </a:pPr>
            <a:r>
              <a:rPr sz="1050" b="0">
                <a:solidFill>
                  <a:srgbClr val="48595B"/>
                </a:solidFill>
                <a:latin typeface="Consolas"/>
              </a:rPr>
              <a:t>27 GB downloaded and organised</a:t>
            </a:r>
          </a:p>
        </p:txBody>
      </p:sp>
      <p:sp>
        <p:nvSpPr>
          <p:cNvPr id="31" name="Rounded Rectangle 30"/>
          <p:cNvSpPr/>
          <p:nvPr/>
        </p:nvSpPr>
        <p:spPr>
          <a:xfrm>
            <a:off x="658368" y="4297680"/>
            <a:ext cx="10881360" cy="896112"/>
          </a:xfrm>
          <a:prstGeom prst="roundRect">
            <a:avLst>
              <a:gd name="adj" fmla="val 6000"/>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4425696"/>
            <a:ext cx="10332720" cy="640080"/>
          </a:xfrm>
          <a:prstGeom prst="rect">
            <a:avLst/>
          </a:prstGeom>
          <a:noFill/>
        </p:spPr>
        <p:txBody>
          <a:bodyPr wrap="square" lIns="0" rIns="0" tIns="0" bIns="0" anchor="t">
            <a:spAutoFit/>
          </a:bodyPr>
          <a:lstStyle/>
          <a:p>
            <a:pPr algn="l">
              <a:lnSpc>
                <a:spcPct val="130000"/>
              </a:lnSpc>
            </a:pPr>
            <a:r>
              <a:rPr sz="1250" b="0">
                <a:solidFill>
                  <a:srgbClr val="FFFFFF"/>
                </a:solidFill>
                <a:latin typeface="Calibri"/>
              </a:rPr>
              <a:t>Stated honestly:  the corpus has known defects — contraindications read as indications, approximate ICD-10 mapping, US brand names. It is therefore used to train EXTRACTION only, and is deliberately excluded from anything the app treats as clinical knowledge.</a:t>
            </a:r>
          </a:p>
        </p:txBody>
      </p:sp>
      <p:sp>
        <p:nvSpPr>
          <p:cNvPr id="33" name="TextBox 32"/>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34" name="TextBox 33"/>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08   METHODOLOGY  ·  3 OF 5</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Preprocessing — why an English tokeniser destroys Hindi</a:t>
            </a:r>
          </a:p>
        </p:txBody>
      </p:sp>
      <p:sp>
        <p:nvSpPr>
          <p:cNvPr id="5" name="TextBox 4"/>
          <p:cNvSpPr txBox="1"/>
          <p:nvPr/>
        </p:nvSpPr>
        <p:spPr>
          <a:xfrm>
            <a:off x="658368" y="1481328"/>
            <a:ext cx="9777679" cy="457200"/>
          </a:xfrm>
          <a:prstGeom prst="rect">
            <a:avLst/>
          </a:prstGeom>
          <a:noFill/>
        </p:spPr>
        <p:txBody>
          <a:bodyPr wrap="square" lIns="0" rIns="0" tIns="0" bIns="0" anchor="t">
            <a:spAutoFit/>
          </a:bodyPr>
          <a:lstStyle/>
          <a:p>
            <a:pPr algn="l">
              <a:lnSpc>
                <a:spcPct val="115000"/>
              </a:lnSpc>
            </a:pPr>
            <a:r>
              <a:rPr sz="1400" b="0">
                <a:solidFill>
                  <a:srgbClr val="48595B"/>
                </a:solidFill>
                <a:latin typeface="Calibri"/>
              </a:rPr>
              <a:t>A concrete finding from our own implementation, verified by running it.</a:t>
            </a:r>
          </a:p>
        </p:txBody>
      </p:sp>
      <p:sp>
        <p:nvSpPr>
          <p:cNvPr id="6" name="Rectangle 5"/>
          <p:cNvSpPr/>
          <p:nvPr/>
        </p:nvSpPr>
        <p:spPr>
          <a:xfrm>
            <a:off x="658368" y="2048256"/>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340864"/>
            <a:ext cx="5257800" cy="2148840"/>
          </a:xfrm>
          <a:prstGeom prst="roundRect">
            <a:avLst>
              <a:gd name="adj" fmla="val 6000"/>
            </a:avLst>
          </a:prstGeom>
          <a:solidFill>
            <a:srgbClr val="FFFFFF"/>
          </a:solidFill>
          <a:ln w="20320">
            <a:solidFill>
              <a:srgbClr val="A3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505456"/>
            <a:ext cx="4754880" cy="228600"/>
          </a:xfrm>
          <a:prstGeom prst="rect">
            <a:avLst/>
          </a:prstGeom>
          <a:noFill/>
        </p:spPr>
        <p:txBody>
          <a:bodyPr wrap="square" lIns="0" rIns="0" tIns="0" bIns="0" anchor="t">
            <a:spAutoFit/>
          </a:bodyPr>
          <a:lstStyle/>
          <a:p>
            <a:pPr algn="l">
              <a:lnSpc>
                <a:spcPct val="100000"/>
              </a:lnSpc>
            </a:pPr>
            <a:r>
              <a:rPr sz="950" b="1" spc="110">
                <a:solidFill>
                  <a:srgbClr val="A33A2A"/>
                </a:solidFill>
                <a:latin typeface="Consolas"/>
              </a:rPr>
              <a:t>NAIVE — PYTHON'S \w</a:t>
            </a:r>
          </a:p>
        </p:txBody>
      </p:sp>
      <p:sp>
        <p:nvSpPr>
          <p:cNvPr id="9" name="TextBox 8"/>
          <p:cNvSpPr txBox="1"/>
          <p:nvPr/>
        </p:nvSpPr>
        <p:spPr>
          <a:xfrm>
            <a:off x="932688" y="2852928"/>
            <a:ext cx="4754880" cy="365760"/>
          </a:xfrm>
          <a:prstGeom prst="rect">
            <a:avLst/>
          </a:prstGeom>
          <a:noFill/>
        </p:spPr>
        <p:txBody>
          <a:bodyPr wrap="square" lIns="0" rIns="0" tIns="0" bIns="0" anchor="t">
            <a:spAutoFit/>
          </a:bodyPr>
          <a:lstStyle/>
          <a:p>
            <a:pPr algn="l">
              <a:lnSpc>
                <a:spcPct val="100000"/>
              </a:lnSpc>
            </a:pPr>
            <a:r>
              <a:rPr sz="1350" b="0">
                <a:solidFill>
                  <a:srgbClr val="14201F"/>
                </a:solidFill>
                <a:latin typeface="Consolas"/>
                <a:cs typeface="Nirmala UI"/>
                <a:ea typeface="Nirmala UI"/>
              </a:rPr>
              <a:t>re.findall(r"\w+", "रोगी")</a:t>
            </a:r>
          </a:p>
        </p:txBody>
      </p:sp>
      <p:sp>
        <p:nvSpPr>
          <p:cNvPr id="10" name="Down Arrow 9"/>
          <p:cNvSpPr/>
          <p:nvPr/>
        </p:nvSpPr>
        <p:spPr>
          <a:xfrm>
            <a:off x="978407" y="3282696"/>
            <a:ext cx="201168" cy="274320"/>
          </a:xfrm>
          <a:prstGeom prst="downArrow">
            <a:avLst/>
          </a:prstGeom>
          <a:solidFill>
            <a:srgbClr val="A3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35607" y="3328416"/>
            <a:ext cx="4206240" cy="320040"/>
          </a:xfrm>
          <a:prstGeom prst="rect">
            <a:avLst/>
          </a:prstGeom>
          <a:noFill/>
        </p:spPr>
        <p:txBody>
          <a:bodyPr wrap="square" lIns="0" rIns="0" tIns="0" bIns="0" anchor="t">
            <a:spAutoFit/>
          </a:bodyPr>
          <a:lstStyle/>
          <a:p>
            <a:pPr algn="l">
              <a:lnSpc>
                <a:spcPct val="100000"/>
              </a:lnSpc>
            </a:pPr>
            <a:r>
              <a:rPr sz="1700" b="1">
                <a:solidFill>
                  <a:srgbClr val="A33A2A"/>
                </a:solidFill>
                <a:latin typeface="Consolas"/>
                <a:cs typeface="Nirmala UI"/>
                <a:ea typeface="Nirmala UI"/>
              </a:rPr>
              <a:t>['र', 'ग']</a:t>
            </a:r>
          </a:p>
        </p:txBody>
      </p:sp>
      <p:sp>
        <p:nvSpPr>
          <p:cNvPr id="12" name="TextBox 11"/>
          <p:cNvSpPr txBox="1"/>
          <p:nvPr/>
        </p:nvSpPr>
        <p:spPr>
          <a:xfrm>
            <a:off x="932688" y="3785616"/>
            <a:ext cx="4754880" cy="548640"/>
          </a:xfrm>
          <a:prstGeom prst="rect">
            <a:avLst/>
          </a:prstGeom>
          <a:noFill/>
        </p:spPr>
        <p:txBody>
          <a:bodyPr wrap="square" lIns="0" rIns="0" tIns="0" bIns="0" anchor="t">
            <a:spAutoFit/>
          </a:bodyPr>
          <a:lstStyle/>
          <a:p>
            <a:pPr algn="l">
              <a:lnSpc>
                <a:spcPct val="125000"/>
              </a:lnSpc>
            </a:pPr>
            <a:r>
              <a:rPr sz="1200" b="0">
                <a:solidFill>
                  <a:srgbClr val="48595B"/>
                </a:solidFill>
                <a:latin typeface="Calibri"/>
                <a:cs typeface="Nirmala UI"/>
                <a:ea typeface="Nirmala UI"/>
              </a:rPr>
              <a:t>The word shatters into two letters. The vowel signs — ो and ी — are combining marks, and \w drops them.</a:t>
            </a:r>
          </a:p>
        </p:txBody>
      </p:sp>
      <p:sp>
        <p:nvSpPr>
          <p:cNvPr id="13" name="Rounded Rectangle 12"/>
          <p:cNvSpPr/>
          <p:nvPr/>
        </p:nvSpPr>
        <p:spPr>
          <a:xfrm>
            <a:off x="6281928" y="2340864"/>
            <a:ext cx="5257800" cy="2148840"/>
          </a:xfrm>
          <a:prstGeom prst="roundRect">
            <a:avLst>
              <a:gd name="adj" fmla="val 6000"/>
            </a:avLst>
          </a:prstGeom>
          <a:solidFill>
            <a:srgbClr val="FFFFFF"/>
          </a:solidFill>
          <a:ln w="2032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2505456"/>
            <a:ext cx="4754880" cy="228600"/>
          </a:xfrm>
          <a:prstGeom prst="rect">
            <a:avLst/>
          </a:prstGeom>
          <a:noFill/>
        </p:spPr>
        <p:txBody>
          <a:bodyPr wrap="square" lIns="0" rIns="0" tIns="0" bIns="0" anchor="t">
            <a:spAutoFit/>
          </a:bodyPr>
          <a:lstStyle/>
          <a:p>
            <a:pPr algn="l">
              <a:lnSpc>
                <a:spcPct val="100000"/>
              </a:lnSpc>
            </a:pPr>
            <a:r>
              <a:rPr sz="950" b="1" spc="110">
                <a:solidFill>
                  <a:srgbClr val="2E7D5B"/>
                </a:solidFill>
                <a:latin typeface="Consolas"/>
              </a:rPr>
              <a:t>OURS — EXPLICIT DEVANAGARI RANGE</a:t>
            </a:r>
          </a:p>
        </p:txBody>
      </p:sp>
      <p:sp>
        <p:nvSpPr>
          <p:cNvPr id="15" name="TextBox 14"/>
          <p:cNvSpPr txBox="1"/>
          <p:nvPr/>
        </p:nvSpPr>
        <p:spPr>
          <a:xfrm>
            <a:off x="6556248" y="2852928"/>
            <a:ext cx="4754880" cy="365760"/>
          </a:xfrm>
          <a:prstGeom prst="rect">
            <a:avLst/>
          </a:prstGeom>
          <a:noFill/>
        </p:spPr>
        <p:txBody>
          <a:bodyPr wrap="square" lIns="0" rIns="0" tIns="0" bIns="0" anchor="t">
            <a:spAutoFit/>
          </a:bodyPr>
          <a:lstStyle/>
          <a:p>
            <a:pPr algn="l">
              <a:lnSpc>
                <a:spcPct val="100000"/>
              </a:lnSpc>
            </a:pPr>
            <a:r>
              <a:rPr sz="1250" b="0">
                <a:solidFill>
                  <a:srgbClr val="14201F"/>
                </a:solidFill>
                <a:latin typeface="Consolas"/>
              </a:rPr>
              <a:t>re.findall(r"[\w U+0900-U+097F ./-]+", …)</a:t>
            </a:r>
          </a:p>
        </p:txBody>
      </p:sp>
      <p:sp>
        <p:nvSpPr>
          <p:cNvPr id="16" name="Down Arrow 15"/>
          <p:cNvSpPr/>
          <p:nvPr/>
        </p:nvSpPr>
        <p:spPr>
          <a:xfrm>
            <a:off x="6601968" y="3282696"/>
            <a:ext cx="201168" cy="274320"/>
          </a:xfrm>
          <a:prstGeom prst="downArrow">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9168" y="3328416"/>
            <a:ext cx="4206240" cy="320040"/>
          </a:xfrm>
          <a:prstGeom prst="rect">
            <a:avLst/>
          </a:prstGeom>
          <a:noFill/>
        </p:spPr>
        <p:txBody>
          <a:bodyPr wrap="square" lIns="0" rIns="0" tIns="0" bIns="0" anchor="t">
            <a:spAutoFit/>
          </a:bodyPr>
          <a:lstStyle/>
          <a:p>
            <a:pPr algn="l">
              <a:lnSpc>
                <a:spcPct val="100000"/>
              </a:lnSpc>
            </a:pPr>
            <a:r>
              <a:rPr sz="1700" b="1">
                <a:solidFill>
                  <a:srgbClr val="2E7D5B"/>
                </a:solidFill>
                <a:latin typeface="Consolas"/>
                <a:cs typeface="Nirmala UI"/>
                <a:ea typeface="Nirmala UI"/>
              </a:rPr>
              <a:t>['रोगी']</a:t>
            </a:r>
          </a:p>
        </p:txBody>
      </p:sp>
      <p:sp>
        <p:nvSpPr>
          <p:cNvPr id="18" name="TextBox 17"/>
          <p:cNvSpPr txBox="1"/>
          <p:nvPr/>
        </p:nvSpPr>
        <p:spPr>
          <a:xfrm>
            <a:off x="6556248" y="3785616"/>
            <a:ext cx="4754880" cy="548640"/>
          </a:xfrm>
          <a:prstGeom prst="rect">
            <a:avLst/>
          </a:prstGeom>
          <a:noFill/>
        </p:spPr>
        <p:txBody>
          <a:bodyPr wrap="square" lIns="0" rIns="0" tIns="0" bIns="0" anchor="t">
            <a:spAutoFit/>
          </a:bodyPr>
          <a:lstStyle/>
          <a:p>
            <a:pPr algn="l">
              <a:lnSpc>
                <a:spcPct val="125000"/>
              </a:lnSpc>
            </a:pPr>
            <a:r>
              <a:rPr sz="1200" b="0">
                <a:solidFill>
                  <a:srgbClr val="48595B"/>
                </a:solidFill>
                <a:latin typeface="Calibri"/>
              </a:rPr>
              <a:t>The word survives whole — and '500mg' and '1-0-1' stay intact, because Latin drug tokens are exactly what the next stage needs.</a:t>
            </a:r>
          </a:p>
        </p:txBody>
      </p:sp>
      <p:sp>
        <p:nvSpPr>
          <p:cNvPr id="19" name="TextBox 18"/>
          <p:cNvSpPr txBox="1"/>
          <p:nvPr/>
        </p:nvSpPr>
        <p:spPr>
          <a:xfrm>
            <a:off x="658368" y="4681728"/>
            <a:ext cx="10881360" cy="274320"/>
          </a:xfrm>
          <a:prstGeom prst="rect">
            <a:avLst/>
          </a:prstGeom>
          <a:noFill/>
        </p:spPr>
        <p:txBody>
          <a:bodyPr wrap="square" lIns="0" rIns="0" tIns="0" bIns="0" anchor="t">
            <a:spAutoFit/>
          </a:bodyPr>
          <a:lstStyle/>
          <a:p>
            <a:pPr algn="l">
              <a:lnSpc>
                <a:spcPct val="100000"/>
              </a:lnSpc>
            </a:pPr>
            <a:r>
              <a:rPr sz="950" b="1" spc="120">
                <a:solidFill>
                  <a:srgbClr val="78898B"/>
                </a:solidFill>
                <a:latin typeface="Consolas"/>
              </a:rPr>
              <a:t>THE FULL PREPROCESSING CHAIN</a:t>
            </a:r>
          </a:p>
        </p:txBody>
      </p:sp>
      <p:sp>
        <p:nvSpPr>
          <p:cNvPr id="20" name="Rounded Rectangle 19"/>
          <p:cNvSpPr/>
          <p:nvPr/>
        </p:nvSpPr>
        <p:spPr>
          <a:xfrm>
            <a:off x="658368" y="4992624"/>
            <a:ext cx="1691640" cy="658368"/>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102352"/>
            <a:ext cx="1481328" cy="502920"/>
          </a:xfrm>
          <a:prstGeom prst="rect">
            <a:avLst/>
          </a:prstGeom>
          <a:noFill/>
        </p:spPr>
        <p:txBody>
          <a:bodyPr wrap="square" lIns="0" rIns="0" tIns="0" bIns="0" anchor="t">
            <a:spAutoFit/>
          </a:bodyPr>
          <a:lstStyle/>
          <a:p>
            <a:pPr algn="ctr">
              <a:lnSpc>
                <a:spcPct val="120000"/>
              </a:lnSpc>
            </a:pPr>
            <a:r>
              <a:rPr sz="1050" b="0">
                <a:solidFill>
                  <a:srgbClr val="48595B"/>
                </a:solidFill>
                <a:latin typeface="Calibri"/>
              </a:rPr>
              <a:t>NFC normalise</a:t>
            </a:r>
          </a:p>
        </p:txBody>
      </p:sp>
      <p:sp>
        <p:nvSpPr>
          <p:cNvPr id="22" name="Isosceles Triangle 21"/>
          <p:cNvSpPr/>
          <p:nvPr/>
        </p:nvSpPr>
        <p:spPr>
          <a:xfrm rot="5400000">
            <a:off x="2368296" y="5248656"/>
            <a:ext cx="82296" cy="118872"/>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478024" y="4992624"/>
            <a:ext cx="1691640" cy="658368"/>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87752" y="5102352"/>
            <a:ext cx="1481328" cy="502920"/>
          </a:xfrm>
          <a:prstGeom prst="rect">
            <a:avLst/>
          </a:prstGeom>
          <a:noFill/>
        </p:spPr>
        <p:txBody>
          <a:bodyPr wrap="square" lIns="0" rIns="0" tIns="0" bIns="0" anchor="t">
            <a:spAutoFit/>
          </a:bodyPr>
          <a:lstStyle/>
          <a:p>
            <a:pPr algn="ctr">
              <a:lnSpc>
                <a:spcPct val="120000"/>
              </a:lnSpc>
            </a:pPr>
            <a:r>
              <a:rPr sz="1050" b="0">
                <a:solidFill>
                  <a:srgbClr val="48595B"/>
                </a:solidFill>
                <a:latin typeface="Calibri"/>
              </a:rPr>
              <a:t>Devanagari digits</a:t>
            </a:r>
          </a:p>
          <a:p>
            <a:pPr algn="ctr">
              <a:lnSpc>
                <a:spcPct val="120000"/>
              </a:lnSpc>
            </a:pPr>
            <a:r>
              <a:rPr sz="1050" b="0">
                <a:solidFill>
                  <a:srgbClr val="48595B"/>
                </a:solidFill>
                <a:latin typeface="Calibri"/>
                <a:cs typeface="Nirmala UI"/>
                <a:ea typeface="Nirmala UI"/>
              </a:rPr>
              <a:t>५०० → 500</a:t>
            </a:r>
          </a:p>
        </p:txBody>
      </p:sp>
      <p:sp>
        <p:nvSpPr>
          <p:cNvPr id="25" name="Isosceles Triangle 24"/>
          <p:cNvSpPr/>
          <p:nvPr/>
        </p:nvSpPr>
        <p:spPr>
          <a:xfrm rot="5400000">
            <a:off x="4187952" y="5248656"/>
            <a:ext cx="82296" cy="118872"/>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97680" y="4992624"/>
            <a:ext cx="1691640" cy="658368"/>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07408" y="5102352"/>
            <a:ext cx="1481328" cy="502920"/>
          </a:xfrm>
          <a:prstGeom prst="rect">
            <a:avLst/>
          </a:prstGeom>
          <a:noFill/>
        </p:spPr>
        <p:txBody>
          <a:bodyPr wrap="square" lIns="0" rIns="0" tIns="0" bIns="0" anchor="t">
            <a:spAutoFit/>
          </a:bodyPr>
          <a:lstStyle/>
          <a:p>
            <a:pPr algn="ctr">
              <a:lnSpc>
                <a:spcPct val="120000"/>
              </a:lnSpc>
            </a:pPr>
            <a:r>
              <a:rPr sz="1050" b="0">
                <a:solidFill>
                  <a:srgbClr val="48595B"/>
                </a:solidFill>
                <a:latin typeface="Calibri"/>
              </a:rPr>
              <a:t>Split on danda</a:t>
            </a:r>
          </a:p>
          <a:p>
            <a:pPr algn="ctr">
              <a:lnSpc>
                <a:spcPct val="120000"/>
              </a:lnSpc>
            </a:pPr>
            <a:r>
              <a:rPr sz="1050" b="0">
                <a:solidFill>
                  <a:srgbClr val="48595B"/>
                </a:solidFill>
                <a:latin typeface="Calibri"/>
                <a:cs typeface="Nirmala UI"/>
                <a:ea typeface="Nirmala UI"/>
              </a:rPr>
              <a:t>'।' not '.'</a:t>
            </a:r>
          </a:p>
        </p:txBody>
      </p:sp>
      <p:sp>
        <p:nvSpPr>
          <p:cNvPr id="28" name="Isosceles Triangle 27"/>
          <p:cNvSpPr/>
          <p:nvPr/>
        </p:nvSpPr>
        <p:spPr>
          <a:xfrm rot="5400000">
            <a:off x="6007608" y="5248656"/>
            <a:ext cx="82296" cy="118872"/>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17336" y="4992624"/>
            <a:ext cx="1691640" cy="658368"/>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7064" y="5102352"/>
            <a:ext cx="1481328" cy="502920"/>
          </a:xfrm>
          <a:prstGeom prst="rect">
            <a:avLst/>
          </a:prstGeom>
          <a:noFill/>
        </p:spPr>
        <p:txBody>
          <a:bodyPr wrap="square" lIns="0" rIns="0" tIns="0" bIns="0" anchor="t">
            <a:spAutoFit/>
          </a:bodyPr>
          <a:lstStyle/>
          <a:p>
            <a:pPr algn="ctr">
              <a:lnSpc>
                <a:spcPct val="120000"/>
              </a:lnSpc>
            </a:pPr>
            <a:r>
              <a:rPr sz="1050" b="0">
                <a:solidFill>
                  <a:srgbClr val="48595B"/>
                </a:solidFill>
                <a:latin typeface="Calibri"/>
              </a:rPr>
              <a:t>Script-aware</a:t>
            </a:r>
          </a:p>
          <a:p>
            <a:pPr algn="ctr">
              <a:lnSpc>
                <a:spcPct val="120000"/>
              </a:lnSpc>
            </a:pPr>
            <a:r>
              <a:rPr sz="1050" b="0">
                <a:solidFill>
                  <a:srgbClr val="48595B"/>
                </a:solidFill>
                <a:latin typeface="Calibri"/>
              </a:rPr>
              <a:t>tokenise</a:t>
            </a:r>
          </a:p>
        </p:txBody>
      </p:sp>
      <p:sp>
        <p:nvSpPr>
          <p:cNvPr id="31" name="Isosceles Triangle 30"/>
          <p:cNvSpPr/>
          <p:nvPr/>
        </p:nvSpPr>
        <p:spPr>
          <a:xfrm rot="5400000">
            <a:off x="7827263" y="5248656"/>
            <a:ext cx="82296" cy="118872"/>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936992" y="4992624"/>
            <a:ext cx="1691640" cy="658368"/>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9" y="5102352"/>
            <a:ext cx="1481328" cy="502920"/>
          </a:xfrm>
          <a:prstGeom prst="rect">
            <a:avLst/>
          </a:prstGeom>
          <a:noFill/>
        </p:spPr>
        <p:txBody>
          <a:bodyPr wrap="square" lIns="0" rIns="0" tIns="0" bIns="0" anchor="t">
            <a:spAutoFit/>
          </a:bodyPr>
          <a:lstStyle/>
          <a:p>
            <a:pPr algn="ctr">
              <a:lnSpc>
                <a:spcPct val="120000"/>
              </a:lnSpc>
            </a:pPr>
            <a:r>
              <a:rPr sz="1050" b="0">
                <a:solidFill>
                  <a:srgbClr val="48595B"/>
                </a:solidFill>
                <a:latin typeface="Calibri"/>
              </a:rPr>
              <a:t>Stop-word removal</a:t>
            </a:r>
          </a:p>
          <a:p>
            <a:pPr algn="ctr">
              <a:lnSpc>
                <a:spcPct val="120000"/>
              </a:lnSpc>
            </a:pPr>
            <a:r>
              <a:rPr sz="1050" b="0">
                <a:solidFill>
                  <a:srgbClr val="48595B"/>
                </a:solidFill>
                <a:latin typeface="Calibri"/>
              </a:rPr>
              <a:t>(Devanagari only)</a:t>
            </a:r>
          </a:p>
        </p:txBody>
      </p:sp>
      <p:sp>
        <p:nvSpPr>
          <p:cNvPr id="34" name="Isosceles Triangle 33"/>
          <p:cNvSpPr/>
          <p:nvPr/>
        </p:nvSpPr>
        <p:spPr>
          <a:xfrm rot="5400000">
            <a:off x="9646920" y="5248656"/>
            <a:ext cx="82296" cy="118872"/>
          </a:xfrm>
          <a:prstGeom prst="triangle">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756648" y="4992624"/>
            <a:ext cx="1691640" cy="658368"/>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66376" y="5102352"/>
            <a:ext cx="1481328" cy="502920"/>
          </a:xfrm>
          <a:prstGeom prst="rect">
            <a:avLst/>
          </a:prstGeom>
          <a:noFill/>
        </p:spPr>
        <p:txBody>
          <a:bodyPr wrap="square" lIns="0" rIns="0" tIns="0" bIns="0" anchor="t">
            <a:spAutoFit/>
          </a:bodyPr>
          <a:lstStyle/>
          <a:p>
            <a:pPr algn="ctr">
              <a:lnSpc>
                <a:spcPct val="120000"/>
              </a:lnSpc>
            </a:pPr>
            <a:r>
              <a:rPr sz="1050" b="0">
                <a:solidFill>
                  <a:srgbClr val="48595B"/>
                </a:solidFill>
                <a:latin typeface="Calibri"/>
              </a:rPr>
              <a:t>Light stemming</a:t>
            </a:r>
          </a:p>
          <a:p>
            <a:pPr algn="ctr">
              <a:lnSpc>
                <a:spcPct val="120000"/>
              </a:lnSpc>
            </a:pPr>
            <a:r>
              <a:rPr sz="1050" b="0">
                <a:solidFill>
                  <a:srgbClr val="48595B"/>
                </a:solidFill>
                <a:latin typeface="Calibri"/>
              </a:rPr>
              <a:t>Ramanathan &amp; Rao</a:t>
            </a:r>
          </a:p>
        </p:txBody>
      </p:sp>
      <p:sp>
        <p:nvSpPr>
          <p:cNvPr id="37" name="TextBox 36"/>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38" name="TextBox 37"/>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09   METHODOLOGY  ·  4 OF 5</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Extraction — rules where the vocabulary is closed, models where it is open</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5257800" cy="274320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38528"/>
            <a:ext cx="4754880" cy="228600"/>
          </a:xfrm>
          <a:prstGeom prst="rect">
            <a:avLst/>
          </a:prstGeom>
          <a:noFill/>
        </p:spPr>
        <p:txBody>
          <a:bodyPr wrap="square" lIns="0" rIns="0" tIns="0" bIns="0" anchor="t">
            <a:spAutoFit/>
          </a:bodyPr>
          <a:lstStyle/>
          <a:p>
            <a:pPr algn="l">
              <a:lnSpc>
                <a:spcPct val="100000"/>
              </a:lnSpc>
            </a:pPr>
            <a:r>
              <a:rPr sz="950" b="1" spc="110">
                <a:solidFill>
                  <a:srgbClr val="0B6E77"/>
                </a:solidFill>
                <a:latin typeface="Consolas"/>
              </a:rPr>
              <a:t>RULE LAYER  ·  BUILT AND TESTED</a:t>
            </a:r>
          </a:p>
        </p:txBody>
      </p:sp>
      <p:sp>
        <p:nvSpPr>
          <p:cNvPr id="8" name="TextBox 7"/>
          <p:cNvSpPr txBox="1"/>
          <p:nvPr/>
        </p:nvSpPr>
        <p:spPr>
          <a:xfrm>
            <a:off x="932688" y="2231136"/>
            <a:ext cx="4754880" cy="310896"/>
          </a:xfrm>
          <a:prstGeom prst="rect">
            <a:avLst/>
          </a:prstGeom>
          <a:noFill/>
        </p:spPr>
        <p:txBody>
          <a:bodyPr wrap="square" lIns="0" rIns="0" tIns="0" bIns="0" anchor="t">
            <a:spAutoFit/>
          </a:bodyPr>
          <a:lstStyle/>
          <a:p>
            <a:pPr algn="l">
              <a:lnSpc>
                <a:spcPct val="100000"/>
              </a:lnSpc>
            </a:pPr>
            <a:r>
              <a:rPr sz="1500" b="1">
                <a:solidFill>
                  <a:srgbClr val="14201F"/>
                </a:solidFill>
                <a:latin typeface="Calibri"/>
              </a:rPr>
              <a:t>Closed, regular vocabularies</a:t>
            </a:r>
          </a:p>
        </p:txBody>
      </p:sp>
      <p:sp>
        <p:nvSpPr>
          <p:cNvPr id="9" name="TextBox 8"/>
          <p:cNvSpPr txBox="1"/>
          <p:nvPr/>
        </p:nvSpPr>
        <p:spPr>
          <a:xfrm>
            <a:off x="932688" y="262432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Frequency</a:t>
            </a:r>
          </a:p>
        </p:txBody>
      </p:sp>
      <p:sp>
        <p:nvSpPr>
          <p:cNvPr id="10" name="TextBox 9"/>
          <p:cNvSpPr txBox="1"/>
          <p:nvPr/>
        </p:nvSpPr>
        <p:spPr>
          <a:xfrm>
            <a:off x="2441448" y="262432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OD · BD · TDS · QID · HS · SOS</a:t>
            </a:r>
          </a:p>
        </p:txBody>
      </p:sp>
      <p:sp>
        <p:nvSpPr>
          <p:cNvPr id="11" name="TextBox 10"/>
          <p:cNvSpPr txBox="1"/>
          <p:nvPr/>
        </p:nvSpPr>
        <p:spPr>
          <a:xfrm>
            <a:off x="932688" y="299008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Dosage grid</a:t>
            </a:r>
          </a:p>
        </p:txBody>
      </p:sp>
      <p:sp>
        <p:nvSpPr>
          <p:cNvPr id="12" name="TextBox 11"/>
          <p:cNvSpPr txBox="1"/>
          <p:nvPr/>
        </p:nvSpPr>
        <p:spPr>
          <a:xfrm>
            <a:off x="2441448" y="299008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1-0-1 · 1-1-1 · 0-0-1</a:t>
            </a:r>
          </a:p>
        </p:txBody>
      </p:sp>
      <p:sp>
        <p:nvSpPr>
          <p:cNvPr id="13" name="TextBox 12"/>
          <p:cNvSpPr txBox="1"/>
          <p:nvPr/>
        </p:nvSpPr>
        <p:spPr>
          <a:xfrm>
            <a:off x="932688" y="335584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Strength</a:t>
            </a:r>
          </a:p>
        </p:txBody>
      </p:sp>
      <p:sp>
        <p:nvSpPr>
          <p:cNvPr id="14" name="TextBox 13"/>
          <p:cNvSpPr txBox="1"/>
          <p:nvPr/>
        </p:nvSpPr>
        <p:spPr>
          <a:xfrm>
            <a:off x="2441448" y="335584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500mg · 2.5ml · 40mcg</a:t>
            </a:r>
          </a:p>
        </p:txBody>
      </p:sp>
      <p:sp>
        <p:nvSpPr>
          <p:cNvPr id="15" name="TextBox 14"/>
          <p:cNvSpPr txBox="1"/>
          <p:nvPr/>
        </p:nvSpPr>
        <p:spPr>
          <a:xfrm>
            <a:off x="932688" y="372160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Duration</a:t>
            </a:r>
          </a:p>
        </p:txBody>
      </p:sp>
      <p:sp>
        <p:nvSpPr>
          <p:cNvPr id="16" name="TextBox 15"/>
          <p:cNvSpPr txBox="1"/>
          <p:nvPr/>
        </p:nvSpPr>
        <p:spPr>
          <a:xfrm>
            <a:off x="2441448" y="372160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x 10 days · x 2 weeks</a:t>
            </a:r>
          </a:p>
        </p:txBody>
      </p:sp>
      <p:sp>
        <p:nvSpPr>
          <p:cNvPr id="17" name="TextBox 16"/>
          <p:cNvSpPr txBox="1"/>
          <p:nvPr/>
        </p:nvSpPr>
        <p:spPr>
          <a:xfrm>
            <a:off x="932688" y="408736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Dates</a:t>
            </a:r>
          </a:p>
        </p:txBody>
      </p:sp>
      <p:sp>
        <p:nvSpPr>
          <p:cNvPr id="18" name="TextBox 17"/>
          <p:cNvSpPr txBox="1"/>
          <p:nvPr/>
        </p:nvSpPr>
        <p:spPr>
          <a:xfrm>
            <a:off x="2441448" y="408736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relative → absolute</a:t>
            </a:r>
          </a:p>
        </p:txBody>
      </p:sp>
      <p:sp>
        <p:nvSpPr>
          <p:cNvPr id="19" name="TextBox 18"/>
          <p:cNvSpPr txBox="1"/>
          <p:nvPr/>
        </p:nvSpPr>
        <p:spPr>
          <a:xfrm>
            <a:off x="932688" y="4151376"/>
            <a:ext cx="4754880" cy="274320"/>
          </a:xfrm>
          <a:prstGeom prst="rect">
            <a:avLst/>
          </a:prstGeom>
          <a:noFill/>
        </p:spPr>
        <p:txBody>
          <a:bodyPr wrap="square" lIns="0" rIns="0" tIns="0" bIns="0" anchor="t">
            <a:spAutoFit/>
          </a:bodyPr>
          <a:lstStyle/>
          <a:p>
            <a:pPr algn="l">
              <a:lnSpc>
                <a:spcPct val="100000"/>
              </a:lnSpc>
            </a:pPr>
            <a:r>
              <a:rPr sz="1100" b="0">
                <a:solidFill>
                  <a:srgbClr val="78898B"/>
                </a:solidFill>
                <a:latin typeface="Calibri"/>
              </a:rPr>
              <a:t>A learned model here would be slower, bigger and no more correct.</a:t>
            </a:r>
          </a:p>
        </p:txBody>
      </p:sp>
      <p:sp>
        <p:nvSpPr>
          <p:cNvPr id="20" name="Rounded Rectangle 19"/>
          <p:cNvSpPr/>
          <p:nvPr/>
        </p:nvSpPr>
        <p:spPr>
          <a:xfrm>
            <a:off x="6281928" y="1773936"/>
            <a:ext cx="5257800" cy="274320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6248" y="1938528"/>
            <a:ext cx="4754880" cy="228600"/>
          </a:xfrm>
          <a:prstGeom prst="rect">
            <a:avLst/>
          </a:prstGeom>
          <a:noFill/>
        </p:spPr>
        <p:txBody>
          <a:bodyPr wrap="square" lIns="0" rIns="0" tIns="0" bIns="0" anchor="t">
            <a:spAutoFit/>
          </a:bodyPr>
          <a:lstStyle/>
          <a:p>
            <a:pPr algn="l">
              <a:lnSpc>
                <a:spcPct val="100000"/>
              </a:lnSpc>
            </a:pPr>
            <a:r>
              <a:rPr sz="950" b="1" spc="110">
                <a:solidFill>
                  <a:srgbClr val="4A5B7A"/>
                </a:solidFill>
                <a:latin typeface="Consolas"/>
              </a:rPr>
              <a:t>NEURAL LAYER  ·  NEXT PHASE</a:t>
            </a:r>
          </a:p>
        </p:txBody>
      </p:sp>
      <p:sp>
        <p:nvSpPr>
          <p:cNvPr id="22" name="TextBox 21"/>
          <p:cNvSpPr txBox="1"/>
          <p:nvPr/>
        </p:nvSpPr>
        <p:spPr>
          <a:xfrm>
            <a:off x="6556248" y="2231136"/>
            <a:ext cx="4754880" cy="310896"/>
          </a:xfrm>
          <a:prstGeom prst="rect">
            <a:avLst/>
          </a:prstGeom>
          <a:noFill/>
        </p:spPr>
        <p:txBody>
          <a:bodyPr wrap="square" lIns="0" rIns="0" tIns="0" bIns="0" anchor="t">
            <a:spAutoFit/>
          </a:bodyPr>
          <a:lstStyle/>
          <a:p>
            <a:pPr algn="l">
              <a:lnSpc>
                <a:spcPct val="100000"/>
              </a:lnSpc>
            </a:pPr>
            <a:r>
              <a:rPr sz="1500" b="1">
                <a:solidFill>
                  <a:srgbClr val="14201F"/>
                </a:solidFill>
                <a:latin typeface="Calibri"/>
              </a:rPr>
              <a:t>Open vocabulary, free prose</a:t>
            </a:r>
          </a:p>
        </p:txBody>
      </p:sp>
      <p:sp>
        <p:nvSpPr>
          <p:cNvPr id="23" name="TextBox 22"/>
          <p:cNvSpPr txBox="1"/>
          <p:nvPr/>
        </p:nvSpPr>
        <p:spPr>
          <a:xfrm>
            <a:off x="6556248" y="262432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NER</a:t>
            </a:r>
          </a:p>
        </p:txBody>
      </p:sp>
      <p:sp>
        <p:nvSpPr>
          <p:cNvPr id="24" name="TextBox 23"/>
          <p:cNvSpPr txBox="1"/>
          <p:nvPr/>
        </p:nvSpPr>
        <p:spPr>
          <a:xfrm>
            <a:off x="8065008" y="262432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PubMedBERT / DistilBERT → ONNX</a:t>
            </a:r>
          </a:p>
        </p:txBody>
      </p:sp>
      <p:sp>
        <p:nvSpPr>
          <p:cNvPr id="25" name="TextBox 24"/>
          <p:cNvSpPr txBox="1"/>
          <p:nvPr/>
        </p:nvSpPr>
        <p:spPr>
          <a:xfrm>
            <a:off x="6556248" y="299008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Relations</a:t>
            </a:r>
          </a:p>
        </p:txBody>
      </p:sp>
      <p:sp>
        <p:nvSpPr>
          <p:cNvPr id="26" name="TextBox 25"/>
          <p:cNvSpPr txBox="1"/>
          <p:nvPr/>
        </p:nvSpPr>
        <p:spPr>
          <a:xfrm>
            <a:off x="8065008" y="299008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bind each dose to its drug</a:t>
            </a:r>
          </a:p>
        </p:txBody>
      </p:sp>
      <p:sp>
        <p:nvSpPr>
          <p:cNvPr id="27" name="TextBox 26"/>
          <p:cNvSpPr txBox="1"/>
          <p:nvPr/>
        </p:nvSpPr>
        <p:spPr>
          <a:xfrm>
            <a:off x="6556248" y="335584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OCR repair</a:t>
            </a:r>
          </a:p>
        </p:txBody>
      </p:sp>
      <p:sp>
        <p:nvSpPr>
          <p:cNvPr id="28" name="TextBox 27"/>
          <p:cNvSpPr txBox="1"/>
          <p:nvPr/>
        </p:nvSpPr>
        <p:spPr>
          <a:xfrm>
            <a:off x="8065008" y="335584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seq2seq over a fixed vocabulary</a:t>
            </a:r>
          </a:p>
        </p:txBody>
      </p:sp>
      <p:sp>
        <p:nvSpPr>
          <p:cNvPr id="29" name="TextBox 28"/>
          <p:cNvSpPr txBox="1"/>
          <p:nvPr/>
        </p:nvSpPr>
        <p:spPr>
          <a:xfrm>
            <a:off x="6556248" y="372160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Brand→generic</a:t>
            </a:r>
          </a:p>
        </p:txBody>
      </p:sp>
      <p:sp>
        <p:nvSpPr>
          <p:cNvPr id="30" name="TextBox 29"/>
          <p:cNvSpPr txBox="1"/>
          <p:nvPr/>
        </p:nvSpPr>
        <p:spPr>
          <a:xfrm>
            <a:off x="8065008" y="372160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char n-grams + edit distance</a:t>
            </a:r>
          </a:p>
        </p:txBody>
      </p:sp>
      <p:sp>
        <p:nvSpPr>
          <p:cNvPr id="31" name="TextBox 30"/>
          <p:cNvSpPr txBox="1"/>
          <p:nvPr/>
        </p:nvSpPr>
        <p:spPr>
          <a:xfrm>
            <a:off x="6556248" y="4087368"/>
            <a:ext cx="1463040" cy="237744"/>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Confidence</a:t>
            </a:r>
          </a:p>
        </p:txBody>
      </p:sp>
      <p:sp>
        <p:nvSpPr>
          <p:cNvPr id="32" name="TextBox 31"/>
          <p:cNvSpPr txBox="1"/>
          <p:nvPr/>
        </p:nvSpPr>
        <p:spPr>
          <a:xfrm>
            <a:off x="8065008" y="4087368"/>
            <a:ext cx="3200400" cy="237744"/>
          </a:xfrm>
          <a:prstGeom prst="rect">
            <a:avLst/>
          </a:prstGeom>
          <a:noFill/>
        </p:spPr>
        <p:txBody>
          <a:bodyPr wrap="square" lIns="0" rIns="0" tIns="0" bIns="0" anchor="t">
            <a:spAutoFit/>
          </a:bodyPr>
          <a:lstStyle/>
          <a:p>
            <a:pPr algn="l">
              <a:lnSpc>
                <a:spcPct val="100000"/>
              </a:lnSpc>
            </a:pPr>
            <a:r>
              <a:rPr sz="1100" b="0">
                <a:solidFill>
                  <a:srgbClr val="48595B"/>
                </a:solidFill>
                <a:latin typeface="Consolas"/>
              </a:rPr>
              <a:t>calibrated for the review screen</a:t>
            </a:r>
          </a:p>
        </p:txBody>
      </p:sp>
      <p:sp>
        <p:nvSpPr>
          <p:cNvPr id="33" name="TextBox 32"/>
          <p:cNvSpPr txBox="1"/>
          <p:nvPr/>
        </p:nvSpPr>
        <p:spPr>
          <a:xfrm>
            <a:off x="6556248" y="4151376"/>
            <a:ext cx="4754880" cy="274320"/>
          </a:xfrm>
          <a:prstGeom prst="rect">
            <a:avLst/>
          </a:prstGeom>
          <a:noFill/>
        </p:spPr>
        <p:txBody>
          <a:bodyPr wrap="square" lIns="0" rIns="0" tIns="0" bIns="0" anchor="t">
            <a:spAutoFit/>
          </a:bodyPr>
          <a:lstStyle/>
          <a:p>
            <a:pPr algn="l">
              <a:lnSpc>
                <a:spcPct val="100000"/>
              </a:lnSpc>
            </a:pPr>
            <a:r>
              <a:rPr sz="1100" b="0">
                <a:solidFill>
                  <a:srgbClr val="78898B"/>
                </a:solidFill>
                <a:latin typeface="Calibri"/>
              </a:rPr>
              <a:t>Layered on top of the rules — never replacing them.</a:t>
            </a:r>
          </a:p>
        </p:txBody>
      </p:sp>
      <p:sp>
        <p:nvSpPr>
          <p:cNvPr id="34" name="Rounded Rectangle 33"/>
          <p:cNvSpPr/>
          <p:nvPr/>
        </p:nvSpPr>
        <p:spPr>
          <a:xfrm>
            <a:off x="658368" y="4700016"/>
            <a:ext cx="10881360" cy="777240"/>
          </a:xfrm>
          <a:prstGeom prst="roundRect">
            <a:avLst>
              <a:gd name="adj" fmla="val 6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 y="4828032"/>
            <a:ext cx="10332720" cy="548640"/>
          </a:xfrm>
          <a:prstGeom prst="rect">
            <a:avLst/>
          </a:prstGeom>
          <a:noFill/>
        </p:spPr>
        <p:txBody>
          <a:bodyPr wrap="square" lIns="0" rIns="0" tIns="0" bIns="0" anchor="t">
            <a:spAutoFit/>
          </a:bodyPr>
          <a:lstStyle/>
          <a:p>
            <a:pPr algn="l">
              <a:lnSpc>
                <a:spcPct val="130000"/>
              </a:lnSpc>
            </a:pPr>
            <a:r>
              <a:rPr sz="1250" b="0">
                <a:solidFill>
                  <a:srgbClr val="FFFFFF"/>
                </a:solidFill>
                <a:latin typeface="Calibri"/>
              </a:rPr>
              <a:t>Grammar-constrained decoding:  the model's output is restricted to a list of ~5,000 real medicine names, so it is STRUCTURALLY unable to produce a medicine that does not exist. Stronger than asking it nicely in a prompt.</a:t>
            </a:r>
          </a:p>
        </p:txBody>
      </p:sp>
      <p:sp>
        <p:nvSpPr>
          <p:cNvPr id="36" name="TextBox 35"/>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37" name="TextBox 36"/>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10   METHODOLOGY  ·  5 OF 5</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Our contribution — a summary that updates without a model</a:t>
            </a:r>
          </a:p>
        </p:txBody>
      </p:sp>
      <p:sp>
        <p:nvSpPr>
          <p:cNvPr id="5" name="TextBox 4"/>
          <p:cNvSpPr txBox="1"/>
          <p:nvPr/>
        </p:nvSpPr>
        <p:spPr>
          <a:xfrm>
            <a:off x="658368" y="1481328"/>
            <a:ext cx="9777679" cy="457200"/>
          </a:xfrm>
          <a:prstGeom prst="rect">
            <a:avLst/>
          </a:prstGeom>
          <a:noFill/>
        </p:spPr>
        <p:txBody>
          <a:bodyPr wrap="square" lIns="0" rIns="0" tIns="0" bIns="0" anchor="t">
            <a:spAutoFit/>
          </a:bodyPr>
          <a:lstStyle/>
          <a:p>
            <a:pPr algn="l">
              <a:lnSpc>
                <a:spcPct val="115000"/>
              </a:lnSpc>
            </a:pPr>
            <a:r>
              <a:rPr sz="1400" b="0">
                <a:solidFill>
                  <a:srgbClr val="48595B"/>
                </a:solidFill>
                <a:latin typeface="Calibri"/>
              </a:rPr>
              <a:t>How do you fold document number 87 into a summary built from the first 86?</a:t>
            </a:r>
          </a:p>
        </p:txBody>
      </p:sp>
      <p:sp>
        <p:nvSpPr>
          <p:cNvPr id="6" name="Rectangle 5"/>
          <p:cNvSpPr/>
          <p:nvPr/>
        </p:nvSpPr>
        <p:spPr>
          <a:xfrm>
            <a:off x="658368" y="2048256"/>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340864"/>
            <a:ext cx="5257800" cy="1572768"/>
          </a:xfrm>
          <a:prstGeom prst="roundRect">
            <a:avLst>
              <a:gd name="adj" fmla="val 6000"/>
            </a:avLst>
          </a:prstGeom>
          <a:solidFill>
            <a:srgbClr val="FFFFFF"/>
          </a:solidFill>
          <a:ln w="17780">
            <a:solidFill>
              <a:srgbClr val="A3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487168"/>
            <a:ext cx="4754880" cy="228600"/>
          </a:xfrm>
          <a:prstGeom prst="rect">
            <a:avLst/>
          </a:prstGeom>
          <a:noFill/>
        </p:spPr>
        <p:txBody>
          <a:bodyPr wrap="square" lIns="0" rIns="0" tIns="0" bIns="0" anchor="t">
            <a:spAutoFit/>
          </a:bodyPr>
          <a:lstStyle/>
          <a:p>
            <a:pPr algn="l">
              <a:lnSpc>
                <a:spcPct val="100000"/>
              </a:lnSpc>
            </a:pPr>
            <a:r>
              <a:rPr sz="950" b="1" spc="110">
                <a:solidFill>
                  <a:srgbClr val="A33A2A"/>
                </a:solidFill>
                <a:latin typeface="Consolas"/>
              </a:rPr>
              <a:t>THE OBVIOUS APPROACH</a:t>
            </a:r>
          </a:p>
        </p:txBody>
      </p:sp>
      <p:sp>
        <p:nvSpPr>
          <p:cNvPr id="9" name="TextBox 8"/>
          <p:cNvSpPr txBox="1"/>
          <p:nvPr/>
        </p:nvSpPr>
        <p:spPr>
          <a:xfrm>
            <a:off x="932688" y="2743200"/>
            <a:ext cx="4754880" cy="457200"/>
          </a:xfrm>
          <a:prstGeom prst="rect">
            <a:avLst/>
          </a:prstGeom>
          <a:noFill/>
        </p:spPr>
        <p:txBody>
          <a:bodyPr wrap="square" lIns="0" rIns="0" tIns="0" bIns="0" anchor="t">
            <a:spAutoFit/>
          </a:bodyPr>
          <a:lstStyle/>
          <a:p>
            <a:pPr algn="l">
              <a:lnSpc>
                <a:spcPct val="115000"/>
              </a:lnSpc>
            </a:pPr>
            <a:r>
              <a:rPr sz="1300" b="1">
                <a:solidFill>
                  <a:srgbClr val="14201F"/>
                </a:solidFill>
                <a:latin typeface="Calibri"/>
              </a:rPr>
              <a:t>Feed every document to a model,</a:t>
            </a:r>
          </a:p>
          <a:p>
            <a:pPr algn="l">
              <a:lnSpc>
                <a:spcPct val="115000"/>
              </a:lnSpc>
            </a:pPr>
            <a:r>
              <a:rPr sz="1300" b="1">
                <a:solidFill>
                  <a:srgbClr val="14201F"/>
                </a:solidFill>
                <a:latin typeface="Calibri"/>
              </a:rPr>
              <a:t>ask for a fresh summary</a:t>
            </a:r>
          </a:p>
        </p:txBody>
      </p:sp>
      <p:sp>
        <p:nvSpPr>
          <p:cNvPr id="10" name="TextBox 9"/>
          <p:cNvSpPr txBox="1"/>
          <p:nvPr/>
        </p:nvSpPr>
        <p:spPr>
          <a:xfrm>
            <a:off x="1042415" y="3264408"/>
            <a:ext cx="4617720" cy="146304"/>
          </a:xfrm>
          <a:prstGeom prst="rect">
            <a:avLst/>
          </a:prstGeom>
          <a:noFill/>
        </p:spPr>
        <p:txBody>
          <a:bodyPr wrap="square" lIns="0" rIns="0" tIns="0" bIns="0" anchor="t">
            <a:spAutoFit/>
          </a:bodyPr>
          <a:lstStyle/>
          <a:p>
            <a:pPr algn="l">
              <a:lnSpc>
                <a:spcPct val="100000"/>
              </a:lnSpc>
            </a:pPr>
            <a:r>
              <a:rPr sz="850" b="0">
                <a:solidFill>
                  <a:srgbClr val="A33A2A"/>
                </a:solidFill>
                <a:latin typeface="Calibri"/>
              </a:rPr>
              <a:t>✕  A small on-device model cannot hold 200 documents</a:t>
            </a:r>
          </a:p>
        </p:txBody>
      </p:sp>
      <p:sp>
        <p:nvSpPr>
          <p:cNvPr id="11" name="TextBox 10"/>
          <p:cNvSpPr txBox="1"/>
          <p:nvPr/>
        </p:nvSpPr>
        <p:spPr>
          <a:xfrm>
            <a:off x="1042415" y="3408883"/>
            <a:ext cx="4617720" cy="146304"/>
          </a:xfrm>
          <a:prstGeom prst="rect">
            <a:avLst/>
          </a:prstGeom>
          <a:noFill/>
        </p:spPr>
        <p:txBody>
          <a:bodyPr wrap="square" lIns="0" rIns="0" tIns="0" bIns="0" anchor="t">
            <a:spAutoFit/>
          </a:bodyPr>
          <a:lstStyle/>
          <a:p>
            <a:pPr algn="l">
              <a:lnSpc>
                <a:spcPct val="100000"/>
              </a:lnSpc>
            </a:pPr>
            <a:r>
              <a:rPr sz="850" b="0">
                <a:solidFill>
                  <a:srgbClr val="A33A2A"/>
                </a:solidFill>
                <a:latin typeface="Calibri"/>
              </a:rPr>
              <a:t>✕  Wording changes every run — a real change is indistinguishable from a rephrasing</a:t>
            </a:r>
          </a:p>
        </p:txBody>
      </p:sp>
      <p:sp>
        <p:nvSpPr>
          <p:cNvPr id="12" name="TextBox 11"/>
          <p:cNvSpPr txBox="1"/>
          <p:nvPr/>
        </p:nvSpPr>
        <p:spPr>
          <a:xfrm>
            <a:off x="1042415" y="3553358"/>
            <a:ext cx="4617720" cy="146304"/>
          </a:xfrm>
          <a:prstGeom prst="rect">
            <a:avLst/>
          </a:prstGeom>
          <a:noFill/>
        </p:spPr>
        <p:txBody>
          <a:bodyPr wrap="square" lIns="0" rIns="0" tIns="0" bIns="0" anchor="t">
            <a:spAutoFit/>
          </a:bodyPr>
          <a:lstStyle/>
          <a:p>
            <a:pPr algn="l">
              <a:lnSpc>
                <a:spcPct val="100000"/>
              </a:lnSpc>
            </a:pPr>
            <a:r>
              <a:rPr sz="850" b="0">
                <a:solidFill>
                  <a:srgbClr val="A33A2A"/>
                </a:solidFill>
                <a:latin typeface="Calibri"/>
              </a:rPr>
              <a:t>✕  Thirty seconds of compute on every single upload</a:t>
            </a:r>
          </a:p>
        </p:txBody>
      </p:sp>
      <p:sp>
        <p:nvSpPr>
          <p:cNvPr id="13" name="TextBox 12"/>
          <p:cNvSpPr txBox="1"/>
          <p:nvPr/>
        </p:nvSpPr>
        <p:spPr>
          <a:xfrm>
            <a:off x="1042415" y="3697833"/>
            <a:ext cx="4617720" cy="146304"/>
          </a:xfrm>
          <a:prstGeom prst="rect">
            <a:avLst/>
          </a:prstGeom>
          <a:noFill/>
        </p:spPr>
        <p:txBody>
          <a:bodyPr wrap="square" lIns="0" rIns="0" tIns="0" bIns="0" anchor="t">
            <a:spAutoFit/>
          </a:bodyPr>
          <a:lstStyle/>
          <a:p>
            <a:pPr algn="l">
              <a:lnSpc>
                <a:spcPct val="100000"/>
              </a:lnSpc>
            </a:pPr>
            <a:r>
              <a:rPr sz="850" b="0">
                <a:solidFill>
                  <a:srgbClr val="A33A2A"/>
                </a:solidFill>
                <a:latin typeface="Calibri"/>
              </a:rPr>
              <a:t>✕  The trail back to the source document dissolves into prose</a:t>
            </a:r>
          </a:p>
        </p:txBody>
      </p:sp>
      <p:sp>
        <p:nvSpPr>
          <p:cNvPr id="14" name="Right Arrow 13"/>
          <p:cNvSpPr/>
          <p:nvPr/>
        </p:nvSpPr>
        <p:spPr>
          <a:xfrm>
            <a:off x="6099048" y="2980944"/>
            <a:ext cx="384048" cy="256032"/>
          </a:xfrm>
          <a:prstGeom prst="rightArrow">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47688" y="2340864"/>
            <a:ext cx="4892040" cy="1572768"/>
          </a:xfrm>
          <a:prstGeom prst="roundRect">
            <a:avLst>
              <a:gd name="adj" fmla="val 6000"/>
            </a:avLst>
          </a:prstGeom>
          <a:solidFill>
            <a:srgbClr val="FFFFFF"/>
          </a:solidFill>
          <a:ln w="2032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22007" y="2487168"/>
            <a:ext cx="4389120" cy="228600"/>
          </a:xfrm>
          <a:prstGeom prst="rect">
            <a:avLst/>
          </a:prstGeom>
          <a:noFill/>
        </p:spPr>
        <p:txBody>
          <a:bodyPr wrap="square" lIns="0" rIns="0" tIns="0" bIns="0" anchor="t">
            <a:spAutoFit/>
          </a:bodyPr>
          <a:lstStyle/>
          <a:p>
            <a:pPr algn="l">
              <a:lnSpc>
                <a:spcPct val="100000"/>
              </a:lnSpc>
            </a:pPr>
            <a:r>
              <a:rPr sz="950" b="1" spc="110">
                <a:solidFill>
                  <a:srgbClr val="2E7D5B"/>
                </a:solidFill>
                <a:latin typeface="Consolas"/>
              </a:rPr>
              <a:t>OURS</a:t>
            </a:r>
          </a:p>
        </p:txBody>
      </p:sp>
      <p:sp>
        <p:nvSpPr>
          <p:cNvPr id="17" name="TextBox 16"/>
          <p:cNvSpPr txBox="1"/>
          <p:nvPr/>
        </p:nvSpPr>
        <p:spPr>
          <a:xfrm>
            <a:off x="6922007" y="2743200"/>
            <a:ext cx="4389120" cy="457200"/>
          </a:xfrm>
          <a:prstGeom prst="rect">
            <a:avLst/>
          </a:prstGeom>
          <a:noFill/>
        </p:spPr>
        <p:txBody>
          <a:bodyPr wrap="square" lIns="0" rIns="0" tIns="0" bIns="0" anchor="t">
            <a:spAutoFit/>
          </a:bodyPr>
          <a:lstStyle/>
          <a:p>
            <a:pPr algn="l">
              <a:lnSpc>
                <a:spcPct val="115000"/>
              </a:lnSpc>
            </a:pPr>
            <a:r>
              <a:rPr sz="1300" b="1">
                <a:solidFill>
                  <a:srgbClr val="14201F"/>
                </a:solidFill>
                <a:latin typeface="Calibri"/>
              </a:rPr>
              <a:t>The summary is a typed structure.</a:t>
            </a:r>
          </a:p>
          <a:p>
            <a:pPr algn="l">
              <a:lnSpc>
                <a:spcPct val="115000"/>
              </a:lnSpc>
            </a:pPr>
            <a:r>
              <a:rPr sz="1300" b="1">
                <a:solidFill>
                  <a:srgbClr val="14201F"/>
                </a:solidFill>
                <a:latin typeface="Calibri"/>
              </a:rPr>
              <a:t>Merging is arithmetic.</a:t>
            </a:r>
          </a:p>
        </p:txBody>
      </p:sp>
      <p:sp>
        <p:nvSpPr>
          <p:cNvPr id="18" name="TextBox 17"/>
          <p:cNvSpPr txBox="1"/>
          <p:nvPr/>
        </p:nvSpPr>
        <p:spPr>
          <a:xfrm>
            <a:off x="7031736" y="3264408"/>
            <a:ext cx="4251960" cy="146304"/>
          </a:xfrm>
          <a:prstGeom prst="rect">
            <a:avLst/>
          </a:prstGeom>
          <a:noFill/>
        </p:spPr>
        <p:txBody>
          <a:bodyPr wrap="square" lIns="0" rIns="0" tIns="0" bIns="0" anchor="t">
            <a:spAutoFit/>
          </a:bodyPr>
          <a:lstStyle/>
          <a:p>
            <a:pPr algn="l">
              <a:lnSpc>
                <a:spcPct val="100000"/>
              </a:lnSpc>
            </a:pPr>
            <a:r>
              <a:rPr sz="850" b="0">
                <a:solidFill>
                  <a:srgbClr val="2E7D5B"/>
                </a:solidFill>
                <a:latin typeface="Calibri"/>
              </a:rPr>
              <a:t>✓  No language model takes part</a:t>
            </a:r>
          </a:p>
        </p:txBody>
      </p:sp>
      <p:sp>
        <p:nvSpPr>
          <p:cNvPr id="19" name="TextBox 18"/>
          <p:cNvSpPr txBox="1"/>
          <p:nvPr/>
        </p:nvSpPr>
        <p:spPr>
          <a:xfrm>
            <a:off x="7031736" y="3408883"/>
            <a:ext cx="4251960" cy="146304"/>
          </a:xfrm>
          <a:prstGeom prst="rect">
            <a:avLst/>
          </a:prstGeom>
          <a:noFill/>
        </p:spPr>
        <p:txBody>
          <a:bodyPr wrap="square" lIns="0" rIns="0" tIns="0" bIns="0" anchor="t">
            <a:spAutoFit/>
          </a:bodyPr>
          <a:lstStyle/>
          <a:p>
            <a:pPr algn="l">
              <a:lnSpc>
                <a:spcPct val="100000"/>
              </a:lnSpc>
            </a:pPr>
            <a:r>
              <a:rPr sz="850" b="0">
                <a:solidFill>
                  <a:srgbClr val="2E7D5B"/>
                </a:solidFill>
                <a:latin typeface="Calibri"/>
              </a:rPr>
              <a:t>✓  Byte-identical when nothing changed</a:t>
            </a:r>
          </a:p>
        </p:txBody>
      </p:sp>
      <p:sp>
        <p:nvSpPr>
          <p:cNvPr id="20" name="TextBox 19"/>
          <p:cNvSpPr txBox="1"/>
          <p:nvPr/>
        </p:nvSpPr>
        <p:spPr>
          <a:xfrm>
            <a:off x="7031736" y="3553358"/>
            <a:ext cx="4251960" cy="146304"/>
          </a:xfrm>
          <a:prstGeom prst="rect">
            <a:avLst/>
          </a:prstGeom>
          <a:noFill/>
        </p:spPr>
        <p:txBody>
          <a:bodyPr wrap="square" lIns="0" rIns="0" tIns="0" bIns="0" anchor="t">
            <a:spAutoFit/>
          </a:bodyPr>
          <a:lstStyle/>
          <a:p>
            <a:pPr algn="l">
              <a:lnSpc>
                <a:spcPct val="100000"/>
              </a:lnSpc>
            </a:pPr>
            <a:r>
              <a:rPr sz="850" b="0">
                <a:solidFill>
                  <a:srgbClr val="2E7D5B"/>
                </a:solidFill>
                <a:latin typeface="Calibri"/>
              </a:rPr>
              <a:t>✓  Every fact carries its source as a property</a:t>
            </a:r>
          </a:p>
        </p:txBody>
      </p:sp>
      <p:sp>
        <p:nvSpPr>
          <p:cNvPr id="21" name="TextBox 20"/>
          <p:cNvSpPr txBox="1"/>
          <p:nvPr/>
        </p:nvSpPr>
        <p:spPr>
          <a:xfrm>
            <a:off x="7031736" y="3697833"/>
            <a:ext cx="4251960" cy="146304"/>
          </a:xfrm>
          <a:prstGeom prst="rect">
            <a:avLst/>
          </a:prstGeom>
          <a:noFill/>
        </p:spPr>
        <p:txBody>
          <a:bodyPr wrap="square" lIns="0" rIns="0" tIns="0" bIns="0" anchor="t">
            <a:spAutoFit/>
          </a:bodyPr>
          <a:lstStyle/>
          <a:p>
            <a:pPr algn="l">
              <a:lnSpc>
                <a:spcPct val="100000"/>
              </a:lnSpc>
            </a:pPr>
            <a:r>
              <a:rPr sz="850" b="0">
                <a:solidFill>
                  <a:srgbClr val="2E7D5B"/>
                </a:solidFill>
                <a:latin typeface="Calibri"/>
              </a:rPr>
              <a:t>✓  Microseconds, not seconds</a:t>
            </a:r>
          </a:p>
        </p:txBody>
      </p:sp>
      <p:sp>
        <p:nvSpPr>
          <p:cNvPr id="22" name="TextBox 21"/>
          <p:cNvSpPr txBox="1"/>
          <p:nvPr/>
        </p:nvSpPr>
        <p:spPr>
          <a:xfrm>
            <a:off x="658368" y="4041648"/>
            <a:ext cx="10881360" cy="274320"/>
          </a:xfrm>
          <a:prstGeom prst="rect">
            <a:avLst/>
          </a:prstGeom>
          <a:noFill/>
        </p:spPr>
        <p:txBody>
          <a:bodyPr wrap="square" lIns="0" rIns="0" tIns="0" bIns="0" anchor="t">
            <a:spAutoFit/>
          </a:bodyPr>
          <a:lstStyle/>
          <a:p>
            <a:pPr algn="l">
              <a:lnSpc>
                <a:spcPct val="100000"/>
              </a:lnSpc>
            </a:pPr>
            <a:r>
              <a:rPr sz="950" b="1" spc="120">
                <a:solidFill>
                  <a:srgbClr val="78898B"/>
                </a:solidFill>
                <a:latin typeface="Consolas"/>
              </a:rPr>
              <a:t>THE MERGE RULES</a:t>
            </a:r>
          </a:p>
        </p:txBody>
      </p:sp>
      <p:sp>
        <p:nvSpPr>
          <p:cNvPr id="23" name="Rounded Rectangle 22"/>
          <p:cNvSpPr/>
          <p:nvPr/>
        </p:nvSpPr>
        <p:spPr>
          <a:xfrm>
            <a:off x="658368" y="4297680"/>
            <a:ext cx="10881360" cy="211226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4379976"/>
            <a:ext cx="4023359"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A NEW DOCUMENT SAYS…</a:t>
            </a:r>
          </a:p>
        </p:txBody>
      </p:sp>
      <p:sp>
        <p:nvSpPr>
          <p:cNvPr id="25" name="TextBox 24"/>
          <p:cNvSpPr txBox="1"/>
          <p:nvPr/>
        </p:nvSpPr>
        <p:spPr>
          <a:xfrm>
            <a:off x="4992623" y="4379976"/>
            <a:ext cx="6492240"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WHAT THE APP DOES</a:t>
            </a:r>
          </a:p>
        </p:txBody>
      </p:sp>
      <p:sp>
        <p:nvSpPr>
          <p:cNvPr id="26" name="Rectangle 25"/>
          <p:cNvSpPr/>
          <p:nvPr/>
        </p:nvSpPr>
        <p:spPr>
          <a:xfrm>
            <a:off x="658368" y="4572000"/>
            <a:ext cx="10881360" cy="9144"/>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663440"/>
            <a:ext cx="4023359"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onsolas"/>
              </a:rPr>
              <a:t>Drug not seen before</a:t>
            </a:r>
          </a:p>
        </p:txBody>
      </p:sp>
      <p:sp>
        <p:nvSpPr>
          <p:cNvPr id="28" name="TextBox 27"/>
          <p:cNvSpPr txBox="1"/>
          <p:nvPr/>
        </p:nvSpPr>
        <p:spPr>
          <a:xfrm>
            <a:off x="4992623" y="4663440"/>
            <a:ext cx="6492240"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alibri"/>
              </a:rPr>
              <a:t>Added as a new course</a:t>
            </a:r>
          </a:p>
        </p:txBody>
      </p:sp>
      <p:sp>
        <p:nvSpPr>
          <p:cNvPr id="29" name="Rectangle 28"/>
          <p:cNvSpPr/>
          <p:nvPr/>
        </p:nvSpPr>
        <p:spPr>
          <a:xfrm>
            <a:off x="658368" y="4878324"/>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4969764"/>
            <a:ext cx="4023359"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onsolas"/>
              </a:rPr>
              <a:t>Same drug, same dose, dates overlap</a:t>
            </a:r>
          </a:p>
        </p:txBody>
      </p:sp>
      <p:sp>
        <p:nvSpPr>
          <p:cNvPr id="31" name="TextBox 30"/>
          <p:cNvSpPr txBox="1"/>
          <p:nvPr/>
        </p:nvSpPr>
        <p:spPr>
          <a:xfrm>
            <a:off x="4992623" y="4969764"/>
            <a:ext cx="6492240"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alibri"/>
              </a:rPr>
              <a:t>One continuing course — both documents cited</a:t>
            </a:r>
          </a:p>
        </p:txBody>
      </p:sp>
      <p:sp>
        <p:nvSpPr>
          <p:cNvPr id="32" name="Rectangle 31"/>
          <p:cNvSpPr/>
          <p:nvPr/>
        </p:nvSpPr>
        <p:spPr>
          <a:xfrm>
            <a:off x="658368" y="5184648"/>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5276088"/>
            <a:ext cx="4023359"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onsolas"/>
              </a:rPr>
              <a:t>Same drug, same brand, different dose</a:t>
            </a:r>
          </a:p>
        </p:txBody>
      </p:sp>
      <p:sp>
        <p:nvSpPr>
          <p:cNvPr id="34" name="TextBox 33"/>
          <p:cNvSpPr txBox="1"/>
          <p:nvPr/>
        </p:nvSpPr>
        <p:spPr>
          <a:xfrm>
            <a:off x="4992623" y="5276088"/>
            <a:ext cx="6492240"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alibri"/>
              </a:rPr>
              <a:t>Newer wins; older kept as history, marked superseded</a:t>
            </a:r>
          </a:p>
        </p:txBody>
      </p:sp>
      <p:sp>
        <p:nvSpPr>
          <p:cNvPr id="35" name="Rectangle 34"/>
          <p:cNvSpPr/>
          <p:nvPr/>
        </p:nvSpPr>
        <p:spPr>
          <a:xfrm>
            <a:off x="658368" y="5490972"/>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582412"/>
            <a:ext cx="4023359" cy="214884"/>
          </a:xfrm>
          <a:prstGeom prst="rect">
            <a:avLst/>
          </a:prstGeom>
          <a:noFill/>
        </p:spPr>
        <p:txBody>
          <a:bodyPr wrap="square" lIns="0" rIns="0" tIns="0" bIns="0" anchor="t">
            <a:spAutoFit/>
          </a:bodyPr>
          <a:lstStyle/>
          <a:p>
            <a:pPr algn="l">
              <a:lnSpc>
                <a:spcPct val="105000"/>
              </a:lnSpc>
            </a:pPr>
            <a:r>
              <a:rPr sz="1050" b="1">
                <a:solidFill>
                  <a:srgbClr val="A33A2A"/>
                </a:solidFill>
                <a:latin typeface="Consolas"/>
              </a:rPr>
              <a:t>Two brands, same ingredient, overlapping</a:t>
            </a:r>
          </a:p>
        </p:txBody>
      </p:sp>
      <p:sp>
        <p:nvSpPr>
          <p:cNvPr id="37" name="TextBox 36"/>
          <p:cNvSpPr txBox="1"/>
          <p:nvPr/>
        </p:nvSpPr>
        <p:spPr>
          <a:xfrm>
            <a:off x="4992623" y="5582412"/>
            <a:ext cx="6492240" cy="214884"/>
          </a:xfrm>
          <a:prstGeom prst="rect">
            <a:avLst/>
          </a:prstGeom>
          <a:noFill/>
        </p:spPr>
        <p:txBody>
          <a:bodyPr wrap="square" lIns="0" rIns="0" tIns="0" bIns="0" anchor="t">
            <a:spAutoFit/>
          </a:bodyPr>
          <a:lstStyle/>
          <a:p>
            <a:pPr algn="l">
              <a:lnSpc>
                <a:spcPct val="105000"/>
              </a:lnSpc>
            </a:pPr>
            <a:r>
              <a:rPr sz="1050" b="1">
                <a:solidFill>
                  <a:srgbClr val="A33A2A"/>
                </a:solidFill>
                <a:latin typeface="Calibri"/>
              </a:rPr>
              <a:t>FLAGGED, never merged — Dolo 650 and Calpol are both paracetamol. This is the error the app exists to catch</a:t>
            </a:r>
          </a:p>
        </p:txBody>
      </p:sp>
      <p:sp>
        <p:nvSpPr>
          <p:cNvPr id="38" name="Rectangle 37"/>
          <p:cNvSpPr/>
          <p:nvPr/>
        </p:nvSpPr>
        <p:spPr>
          <a:xfrm>
            <a:off x="658368" y="5797296"/>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888736"/>
            <a:ext cx="4023359"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onsolas"/>
              </a:rPr>
              <a:t>A field the user corrected</a:t>
            </a:r>
          </a:p>
        </p:txBody>
      </p:sp>
      <p:sp>
        <p:nvSpPr>
          <p:cNvPr id="40" name="TextBox 39"/>
          <p:cNvSpPr txBox="1"/>
          <p:nvPr/>
        </p:nvSpPr>
        <p:spPr>
          <a:xfrm>
            <a:off x="4992623" y="5888736"/>
            <a:ext cx="6492240"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alibri"/>
              </a:rPr>
              <a:t>Never overwritten, by anything, ever</a:t>
            </a:r>
          </a:p>
        </p:txBody>
      </p:sp>
      <p:sp>
        <p:nvSpPr>
          <p:cNvPr id="41" name="Rectangle 40"/>
          <p:cNvSpPr/>
          <p:nvPr/>
        </p:nvSpPr>
        <p:spPr>
          <a:xfrm>
            <a:off x="658368" y="6103620"/>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6195059"/>
            <a:ext cx="4023359"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onsolas"/>
              </a:rPr>
              <a:t>A lab value with no printed range</a:t>
            </a:r>
          </a:p>
        </p:txBody>
      </p:sp>
      <p:sp>
        <p:nvSpPr>
          <p:cNvPr id="43" name="TextBox 42"/>
          <p:cNvSpPr txBox="1"/>
          <p:nvPr/>
        </p:nvSpPr>
        <p:spPr>
          <a:xfrm>
            <a:off x="4992623" y="6195059"/>
            <a:ext cx="6492240" cy="214884"/>
          </a:xfrm>
          <a:prstGeom prst="rect">
            <a:avLst/>
          </a:prstGeom>
          <a:noFill/>
        </p:spPr>
        <p:txBody>
          <a:bodyPr wrap="square" lIns="0" rIns="0" tIns="0" bIns="0" anchor="t">
            <a:spAutoFit/>
          </a:bodyPr>
          <a:lstStyle/>
          <a:p>
            <a:pPr algn="l">
              <a:lnSpc>
                <a:spcPct val="105000"/>
              </a:lnSpc>
            </a:pPr>
            <a:r>
              <a:rPr sz="1050" b="0">
                <a:solidFill>
                  <a:srgbClr val="48595B"/>
                </a:solidFill>
                <a:latin typeface="Calibri"/>
              </a:rPr>
              <a:t>Stored — but never judged. A range is never invented</a:t>
            </a:r>
          </a:p>
        </p:txBody>
      </p:sp>
      <p:sp>
        <p:nvSpPr>
          <p:cNvPr id="44" name="TextBox 43"/>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45" name="TextBox 44"/>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11   APPLICATION</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Medicine cabinet — search a symptom, find what you already own</a:t>
            </a:r>
          </a:p>
        </p:txBody>
      </p:sp>
      <p:sp>
        <p:nvSpPr>
          <p:cNvPr id="5" name="TextBox 4"/>
          <p:cNvSpPr txBox="1"/>
          <p:nvPr/>
        </p:nvSpPr>
        <p:spPr>
          <a:xfrm>
            <a:off x="658368" y="1481328"/>
            <a:ext cx="9777679" cy="457200"/>
          </a:xfrm>
          <a:prstGeom prst="rect">
            <a:avLst/>
          </a:prstGeom>
          <a:noFill/>
        </p:spPr>
        <p:txBody>
          <a:bodyPr wrap="square" lIns="0" rIns="0" tIns="0" bIns="0" anchor="t">
            <a:spAutoFit/>
          </a:bodyPr>
          <a:lstStyle/>
          <a:p>
            <a:pPr algn="l">
              <a:lnSpc>
                <a:spcPct val="115000"/>
              </a:lnSpc>
            </a:pPr>
            <a:r>
              <a:rPr sz="1400" b="0">
                <a:solidFill>
                  <a:srgbClr val="48595B"/>
                </a:solidFill>
                <a:latin typeface="Calibri"/>
              </a:rPr>
              <a:t>An NLP retrieval task with a hard safety boundary around it.</a:t>
            </a:r>
          </a:p>
        </p:txBody>
      </p:sp>
      <p:sp>
        <p:nvSpPr>
          <p:cNvPr id="6" name="Rectangle 5"/>
          <p:cNvSpPr/>
          <p:nvPr/>
        </p:nvSpPr>
        <p:spPr>
          <a:xfrm>
            <a:off x="658368" y="2048256"/>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340864"/>
            <a:ext cx="6675120" cy="2450592"/>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05456"/>
            <a:ext cx="6217920" cy="228600"/>
          </a:xfrm>
          <a:prstGeom prst="rect">
            <a:avLst/>
          </a:prstGeom>
          <a:noFill/>
        </p:spPr>
        <p:txBody>
          <a:bodyPr wrap="square" lIns="0" rIns="0" tIns="0" bIns="0" anchor="t">
            <a:spAutoFit/>
          </a:bodyPr>
          <a:lstStyle/>
          <a:p>
            <a:pPr algn="l">
              <a:lnSpc>
                <a:spcPct val="100000"/>
              </a:lnSpc>
            </a:pPr>
            <a:r>
              <a:rPr sz="950" b="1" spc="110">
                <a:solidFill>
                  <a:srgbClr val="0B6E77"/>
                </a:solidFill>
                <a:latin typeface="Consolas"/>
              </a:rPr>
              <a:t>HOW THE MATCH IS MADE</a:t>
            </a:r>
          </a:p>
        </p:txBody>
      </p:sp>
      <p:sp>
        <p:nvSpPr>
          <p:cNvPr id="9" name="TextBox 8"/>
          <p:cNvSpPr txBox="1"/>
          <p:nvPr/>
        </p:nvSpPr>
        <p:spPr>
          <a:xfrm>
            <a:off x="914400" y="2834640"/>
            <a:ext cx="274320" cy="237744"/>
          </a:xfrm>
          <a:prstGeom prst="rect">
            <a:avLst/>
          </a:prstGeom>
          <a:noFill/>
        </p:spPr>
        <p:txBody>
          <a:bodyPr wrap="square" lIns="0" rIns="0" tIns="0" bIns="0" anchor="t">
            <a:spAutoFit/>
          </a:bodyPr>
          <a:lstStyle/>
          <a:p>
            <a:pPr algn="l">
              <a:lnSpc>
                <a:spcPct val="100000"/>
              </a:lnSpc>
            </a:pPr>
            <a:r>
              <a:rPr sz="1300" b="1">
                <a:solidFill>
                  <a:srgbClr val="0B6E77"/>
                </a:solidFill>
                <a:latin typeface="Consolas"/>
              </a:rPr>
              <a:t>1</a:t>
            </a:r>
          </a:p>
        </p:txBody>
      </p:sp>
      <p:sp>
        <p:nvSpPr>
          <p:cNvPr id="10" name="TextBox 9"/>
          <p:cNvSpPr txBox="1"/>
          <p:nvPr/>
        </p:nvSpPr>
        <p:spPr>
          <a:xfrm>
            <a:off x="1225295" y="2834640"/>
            <a:ext cx="5852160" cy="237744"/>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Normalise the query</a:t>
            </a:r>
          </a:p>
        </p:txBody>
      </p:sp>
      <p:sp>
        <p:nvSpPr>
          <p:cNvPr id="11" name="TextBox 10"/>
          <p:cNvSpPr txBox="1"/>
          <p:nvPr/>
        </p:nvSpPr>
        <p:spPr>
          <a:xfrm>
            <a:off x="1225295" y="3054096"/>
            <a:ext cx="5852160" cy="365760"/>
          </a:xfrm>
          <a:prstGeom prst="rect">
            <a:avLst/>
          </a:prstGeom>
          <a:noFill/>
        </p:spPr>
        <p:txBody>
          <a:bodyPr wrap="square" lIns="0" rIns="0" tIns="0" bIns="0" anchor="t">
            <a:spAutoFit/>
          </a:bodyPr>
          <a:lstStyle/>
          <a:p>
            <a:pPr algn="l">
              <a:lnSpc>
                <a:spcPct val="125000"/>
              </a:lnSpc>
            </a:pPr>
            <a:r>
              <a:rPr sz="1050" b="0">
                <a:solidFill>
                  <a:srgbClr val="48595B"/>
                </a:solidFill>
                <a:latin typeface="Consolas"/>
                <a:cs typeface="Nirmala UI"/>
                <a:ea typeface="Nirmala UI"/>
              </a:rPr>
              <a:t>"fever" · "बुखार" · "temperature" → one clinical concept</a:t>
            </a:r>
          </a:p>
        </p:txBody>
      </p:sp>
      <p:sp>
        <p:nvSpPr>
          <p:cNvPr id="12" name="TextBox 11"/>
          <p:cNvSpPr txBox="1"/>
          <p:nvPr/>
        </p:nvSpPr>
        <p:spPr>
          <a:xfrm>
            <a:off x="914400" y="3438144"/>
            <a:ext cx="274320" cy="237744"/>
          </a:xfrm>
          <a:prstGeom prst="rect">
            <a:avLst/>
          </a:prstGeom>
          <a:noFill/>
        </p:spPr>
        <p:txBody>
          <a:bodyPr wrap="square" lIns="0" rIns="0" tIns="0" bIns="0" anchor="t">
            <a:spAutoFit/>
          </a:bodyPr>
          <a:lstStyle/>
          <a:p>
            <a:pPr algn="l">
              <a:lnSpc>
                <a:spcPct val="100000"/>
              </a:lnSpc>
            </a:pPr>
            <a:r>
              <a:rPr sz="1300" b="1">
                <a:solidFill>
                  <a:srgbClr val="0B6E77"/>
                </a:solidFill>
                <a:latin typeface="Consolas"/>
              </a:rPr>
              <a:t>2</a:t>
            </a:r>
          </a:p>
        </p:txBody>
      </p:sp>
      <p:sp>
        <p:nvSpPr>
          <p:cNvPr id="13" name="TextBox 12"/>
          <p:cNvSpPr txBox="1"/>
          <p:nvPr/>
        </p:nvSpPr>
        <p:spPr>
          <a:xfrm>
            <a:off x="1225295" y="3438144"/>
            <a:ext cx="5852160" cy="237744"/>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Match against real indication data</a:t>
            </a:r>
          </a:p>
        </p:txBody>
      </p:sp>
      <p:sp>
        <p:nvSpPr>
          <p:cNvPr id="14" name="TextBox 13"/>
          <p:cNvSpPr txBox="1"/>
          <p:nvPr/>
        </p:nvSpPr>
        <p:spPr>
          <a:xfrm>
            <a:off x="1225295" y="3657600"/>
            <a:ext cx="5852160" cy="365760"/>
          </a:xfrm>
          <a:prstGeom prst="rect">
            <a:avLst/>
          </a:prstGeom>
          <a:noFill/>
        </p:spPr>
        <p:txBody>
          <a:bodyPr wrap="square" lIns="0" rIns="0" tIns="0" bIns="0" anchor="t">
            <a:spAutoFit/>
          </a:bodyPr>
          <a:lstStyle/>
          <a:p>
            <a:pPr algn="l">
              <a:lnSpc>
                <a:spcPct val="125000"/>
              </a:lnSpc>
            </a:pPr>
            <a:r>
              <a:rPr sz="1050" b="0">
                <a:solidFill>
                  <a:srgbClr val="48595B"/>
                </a:solidFill>
                <a:latin typeface="Consolas"/>
              </a:rPr>
              <a:t>30,835 MedDRA rows (SIDER 4.1) + label text for</a:t>
            </a:r>
          </a:p>
          <a:p>
            <a:pPr algn="l">
              <a:lnSpc>
                <a:spcPct val="125000"/>
              </a:lnSpc>
            </a:pPr>
            <a:r>
              <a:rPr sz="1050" b="0">
                <a:solidFill>
                  <a:srgbClr val="48595B"/>
                </a:solidFill>
                <a:latin typeface="Consolas"/>
              </a:rPr>
              <a:t>14,695 generics (openFDA) — already in the repo</a:t>
            </a:r>
          </a:p>
        </p:txBody>
      </p:sp>
      <p:sp>
        <p:nvSpPr>
          <p:cNvPr id="15" name="TextBox 14"/>
          <p:cNvSpPr txBox="1"/>
          <p:nvPr/>
        </p:nvSpPr>
        <p:spPr>
          <a:xfrm>
            <a:off x="914400" y="4041648"/>
            <a:ext cx="274320" cy="237744"/>
          </a:xfrm>
          <a:prstGeom prst="rect">
            <a:avLst/>
          </a:prstGeom>
          <a:noFill/>
        </p:spPr>
        <p:txBody>
          <a:bodyPr wrap="square" lIns="0" rIns="0" tIns="0" bIns="0" anchor="t">
            <a:spAutoFit/>
          </a:bodyPr>
          <a:lstStyle/>
          <a:p>
            <a:pPr algn="l">
              <a:lnSpc>
                <a:spcPct val="100000"/>
              </a:lnSpc>
            </a:pPr>
            <a:r>
              <a:rPr sz="1300" b="1">
                <a:solidFill>
                  <a:srgbClr val="0B6E77"/>
                </a:solidFill>
                <a:latin typeface="Consolas"/>
              </a:rPr>
              <a:t>3</a:t>
            </a:r>
          </a:p>
        </p:txBody>
      </p:sp>
      <p:sp>
        <p:nvSpPr>
          <p:cNvPr id="16" name="TextBox 15"/>
          <p:cNvSpPr txBox="1"/>
          <p:nvPr/>
        </p:nvSpPr>
        <p:spPr>
          <a:xfrm>
            <a:off x="1225295" y="4041648"/>
            <a:ext cx="5852160" cy="237744"/>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Rank by the user's own history first</a:t>
            </a:r>
          </a:p>
        </p:txBody>
      </p:sp>
      <p:sp>
        <p:nvSpPr>
          <p:cNvPr id="17" name="TextBox 16"/>
          <p:cNvSpPr txBox="1"/>
          <p:nvPr/>
        </p:nvSpPr>
        <p:spPr>
          <a:xfrm>
            <a:off x="1225295" y="4261104"/>
            <a:ext cx="5852160" cy="365760"/>
          </a:xfrm>
          <a:prstGeom prst="rect">
            <a:avLst/>
          </a:prstGeom>
          <a:noFill/>
        </p:spPr>
        <p:txBody>
          <a:bodyPr wrap="square" lIns="0" rIns="0" tIns="0" bIns="0" anchor="t">
            <a:spAutoFit/>
          </a:bodyPr>
          <a:lstStyle/>
          <a:p>
            <a:pPr algn="l">
              <a:lnSpc>
                <a:spcPct val="125000"/>
              </a:lnSpc>
            </a:pPr>
            <a:r>
              <a:rPr sz="1050" b="0">
                <a:solidFill>
                  <a:srgbClr val="48595B"/>
                </a:solidFill>
                <a:latin typeface="Consolas"/>
              </a:rPr>
              <a:t>then by label text — never by what the app thinks is best</a:t>
            </a:r>
          </a:p>
        </p:txBody>
      </p:sp>
      <p:sp>
        <p:nvSpPr>
          <p:cNvPr id="18" name="Rounded Rectangle 17"/>
          <p:cNvSpPr/>
          <p:nvPr/>
        </p:nvSpPr>
        <p:spPr>
          <a:xfrm>
            <a:off x="7699248" y="2340864"/>
            <a:ext cx="3840480" cy="2450592"/>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7848" y="2505456"/>
            <a:ext cx="3383280" cy="228600"/>
          </a:xfrm>
          <a:prstGeom prst="rect">
            <a:avLst/>
          </a:prstGeom>
          <a:noFill/>
        </p:spPr>
        <p:txBody>
          <a:bodyPr wrap="square" lIns="0" rIns="0" tIns="0" bIns="0" anchor="t">
            <a:spAutoFit/>
          </a:bodyPr>
          <a:lstStyle/>
          <a:p>
            <a:pPr algn="l">
              <a:lnSpc>
                <a:spcPct val="100000"/>
              </a:lnSpc>
            </a:pPr>
            <a:r>
              <a:rPr sz="950" b="1" spc="110">
                <a:solidFill>
                  <a:srgbClr val="78898B"/>
                </a:solidFill>
                <a:latin typeface="Consolas"/>
              </a:rPr>
              <a:t>WHAT THE USER SEES</a:t>
            </a:r>
          </a:p>
        </p:txBody>
      </p:sp>
      <p:sp>
        <p:nvSpPr>
          <p:cNvPr id="20" name="Rounded Rectangle 19"/>
          <p:cNvSpPr/>
          <p:nvPr/>
        </p:nvSpPr>
        <p:spPr>
          <a:xfrm>
            <a:off x="7927848" y="2779776"/>
            <a:ext cx="3383280" cy="731520"/>
          </a:xfrm>
          <a:prstGeom prst="roundRect">
            <a:avLst>
              <a:gd name="adj" fmla="val 6000"/>
            </a:avLst>
          </a:prstGeom>
          <a:solidFill>
            <a:srgbClr val="FFFFFF"/>
          </a:solidFill>
          <a:ln w="16510">
            <a:solidFill>
              <a:srgbClr val="0B6E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65008" y="2871216"/>
            <a:ext cx="3108960" cy="603504"/>
          </a:xfrm>
          <a:prstGeom prst="rect">
            <a:avLst/>
          </a:prstGeom>
          <a:noFill/>
        </p:spPr>
        <p:txBody>
          <a:bodyPr wrap="square" lIns="0" rIns="0" tIns="0" bIns="0" anchor="t">
            <a:spAutoFit/>
          </a:bodyPr>
          <a:lstStyle/>
          <a:p>
            <a:pPr algn="l">
              <a:lnSpc>
                <a:spcPct val="128000"/>
              </a:lnSpc>
            </a:pPr>
            <a:r>
              <a:rPr sz="1000" b="0">
                <a:solidFill>
                  <a:srgbClr val="14201F"/>
                </a:solidFill>
                <a:latin typeface="Calibri"/>
              </a:rPr>
              <a:t>Dolo 650 · 8 left</a:t>
            </a:r>
          </a:p>
          <a:p>
            <a:pPr algn="l">
              <a:lnSpc>
                <a:spcPct val="128000"/>
              </a:lnSpc>
            </a:pPr>
            <a:r>
              <a:rPr sz="1000" b="0">
                <a:solidFill>
                  <a:srgbClr val="14201F"/>
                </a:solidFill>
                <a:latin typeface="Calibri"/>
              </a:rPr>
              <a:t>expires Nov 2026</a:t>
            </a:r>
          </a:p>
          <a:p>
            <a:pPr algn="l">
              <a:lnSpc>
                <a:spcPct val="128000"/>
              </a:lnSpc>
            </a:pPr>
            <a:r>
              <a:rPr sz="1000" b="0">
                <a:solidFill>
                  <a:srgbClr val="14201F"/>
                </a:solidFill>
                <a:latin typeface="Calibri"/>
              </a:rPr>
              <a:t>prescribed to you 12 Mar</a:t>
            </a:r>
          </a:p>
        </p:txBody>
      </p:sp>
      <p:sp>
        <p:nvSpPr>
          <p:cNvPr id="22" name="Rounded Rectangle 21"/>
          <p:cNvSpPr/>
          <p:nvPr/>
        </p:nvSpPr>
        <p:spPr>
          <a:xfrm>
            <a:off x="7927848" y="3584448"/>
            <a:ext cx="3383280" cy="512064"/>
          </a:xfrm>
          <a:prstGeom prst="roundRect">
            <a:avLst>
              <a:gd name="adj" fmla="val 6000"/>
            </a:avLst>
          </a:prstGeom>
          <a:solidFill>
            <a:srgbClr val="FFFFFF"/>
          </a:solidFill>
          <a:ln w="16510">
            <a:solidFill>
              <a:srgbClr val="A3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65008" y="3666744"/>
            <a:ext cx="3108960" cy="384048"/>
          </a:xfrm>
          <a:prstGeom prst="rect">
            <a:avLst/>
          </a:prstGeom>
          <a:noFill/>
        </p:spPr>
        <p:txBody>
          <a:bodyPr wrap="square" lIns="0" rIns="0" tIns="0" bIns="0" anchor="t">
            <a:spAutoFit/>
          </a:bodyPr>
          <a:lstStyle/>
          <a:p>
            <a:pPr algn="l">
              <a:lnSpc>
                <a:spcPct val="128000"/>
              </a:lnSpc>
            </a:pPr>
            <a:r>
              <a:rPr sz="1000" b="1">
                <a:solidFill>
                  <a:srgbClr val="A33A2A"/>
                </a:solidFill>
                <a:latin typeface="Calibri"/>
              </a:rPr>
              <a:t>Crocin · EXPIRED</a:t>
            </a:r>
          </a:p>
          <a:p>
            <a:pPr algn="l">
              <a:lnSpc>
                <a:spcPct val="128000"/>
              </a:lnSpc>
            </a:pPr>
            <a:r>
              <a:rPr sz="1000" b="1">
                <a:solidFill>
                  <a:srgbClr val="A33A2A"/>
                </a:solidFill>
                <a:latin typeface="Calibri"/>
              </a:rPr>
              <a:t>do not use</a:t>
            </a:r>
          </a:p>
        </p:txBody>
      </p:sp>
      <p:sp>
        <p:nvSpPr>
          <p:cNvPr id="24" name="Rounded Rectangle 23"/>
          <p:cNvSpPr/>
          <p:nvPr/>
        </p:nvSpPr>
        <p:spPr>
          <a:xfrm>
            <a:off x="7927848" y="4169664"/>
            <a:ext cx="3383280" cy="512064"/>
          </a:xfrm>
          <a:prstGeom prst="roundRect">
            <a:avLst>
              <a:gd name="adj" fmla="val 6000"/>
            </a:avLst>
          </a:prstGeom>
          <a:solidFill>
            <a:srgbClr val="FFFFFF"/>
          </a:solidFill>
          <a:ln w="16510">
            <a:solidFill>
              <a:srgbClr val="B26A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65008" y="4251960"/>
            <a:ext cx="3108960" cy="384048"/>
          </a:xfrm>
          <a:prstGeom prst="rect">
            <a:avLst/>
          </a:prstGeom>
          <a:noFill/>
        </p:spPr>
        <p:txBody>
          <a:bodyPr wrap="square" lIns="0" rIns="0" tIns="0" bIns="0" anchor="t">
            <a:spAutoFit/>
          </a:bodyPr>
          <a:lstStyle/>
          <a:p>
            <a:pPr algn="l">
              <a:lnSpc>
                <a:spcPct val="128000"/>
              </a:lnSpc>
            </a:pPr>
            <a:r>
              <a:rPr sz="1000" b="1">
                <a:solidFill>
                  <a:srgbClr val="B26A16"/>
                </a:solidFill>
                <a:latin typeface="Calibri"/>
              </a:rPr>
              <a:t>3 not shown — prescription</a:t>
            </a:r>
          </a:p>
          <a:p>
            <a:pPr algn="l">
              <a:lnSpc>
                <a:spcPct val="128000"/>
              </a:lnSpc>
            </a:pPr>
            <a:r>
              <a:rPr sz="1000" b="1">
                <a:solidFill>
                  <a:srgbClr val="B26A16"/>
                </a:solidFill>
                <a:latin typeface="Calibri"/>
              </a:rPr>
              <a:t>only. These need a doctor.</a:t>
            </a:r>
          </a:p>
        </p:txBody>
      </p:sp>
      <p:sp>
        <p:nvSpPr>
          <p:cNvPr id="26" name="Rounded Rectangle 25"/>
          <p:cNvSpPr/>
          <p:nvPr/>
        </p:nvSpPr>
        <p:spPr>
          <a:xfrm>
            <a:off x="658368" y="4882896"/>
            <a:ext cx="10881360" cy="1005840"/>
          </a:xfrm>
          <a:prstGeom prst="roundRect">
            <a:avLst>
              <a:gd name="adj" fmla="val 6000"/>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010912"/>
            <a:ext cx="10332720" cy="749808"/>
          </a:xfrm>
          <a:prstGeom prst="rect">
            <a:avLst/>
          </a:prstGeom>
          <a:noFill/>
        </p:spPr>
        <p:txBody>
          <a:bodyPr wrap="square" lIns="0" rIns="0" tIns="0" bIns="0" anchor="t">
            <a:spAutoFit/>
          </a:bodyPr>
          <a:lstStyle/>
          <a:p>
            <a:pPr algn="l">
              <a:lnSpc>
                <a:spcPct val="132000"/>
              </a:lnSpc>
            </a:pPr>
            <a:r>
              <a:rPr sz="1200" b="0">
                <a:solidFill>
                  <a:srgbClr val="FFFFFF"/>
                </a:solidFill>
                <a:latin typeface="Calibri"/>
              </a:rPr>
              <a:t>The safety line:  the app RETRIEVES, it never RECOMMENDS.  It does not say "take Dolo for your fever." It says "you own Dolo 650, its label lists fever, and you were prescribed it in March." Every line is a fact about the user's own records or a quote from an approved label, cited. Antibiotics are excluded from symptom search entirely — an app that answers "infection" with "you have amoxicillin at home" drives resistance.</a:t>
            </a:r>
          </a:p>
        </p:txBody>
      </p:sp>
      <p:sp>
        <p:nvSpPr>
          <p:cNvPr id="28" name="TextBox 27"/>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29" name="TextBox 28"/>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12   RESULT ANALYSIS  ·  1 OF 3</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Extraction accuracy on real corpus data</a:t>
            </a:r>
          </a:p>
        </p:txBody>
      </p:sp>
      <p:sp>
        <p:nvSpPr>
          <p:cNvPr id="5" name="TextBox 4"/>
          <p:cNvSpPr txBox="1"/>
          <p:nvPr/>
        </p:nvSpPr>
        <p:spPr>
          <a:xfrm>
            <a:off x="658368" y="1481328"/>
            <a:ext cx="9777679" cy="457200"/>
          </a:xfrm>
          <a:prstGeom prst="rect">
            <a:avLst/>
          </a:prstGeom>
          <a:noFill/>
        </p:spPr>
        <p:txBody>
          <a:bodyPr wrap="square" lIns="0" rIns="0" tIns="0" bIns="0" anchor="t">
            <a:spAutoFit/>
          </a:bodyPr>
          <a:lstStyle/>
          <a:p>
            <a:pPr algn="l">
              <a:lnSpc>
                <a:spcPct val="115000"/>
              </a:lnSpc>
            </a:pPr>
            <a:r>
              <a:rPr sz="1400" b="0">
                <a:solidFill>
                  <a:srgbClr val="48595B"/>
                </a:solidFill>
                <a:latin typeface="Calibri"/>
              </a:rPr>
              <a:t>400 prescriptions sampled from our 24,961-record corpus, seed 20260818, scored against the generator's ground truth.</a:t>
            </a:r>
          </a:p>
        </p:txBody>
      </p:sp>
      <p:sp>
        <p:nvSpPr>
          <p:cNvPr id="6" name="Rectangle 5"/>
          <p:cNvSpPr/>
          <p:nvPr/>
        </p:nvSpPr>
        <p:spPr>
          <a:xfrm>
            <a:off x="658368" y="2048256"/>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43230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Document type classified</a:t>
            </a:r>
          </a:p>
        </p:txBody>
      </p:sp>
      <p:sp>
        <p:nvSpPr>
          <p:cNvPr id="8" name="Rounded Rectangle 7"/>
          <p:cNvSpPr/>
          <p:nvPr/>
        </p:nvSpPr>
        <p:spPr>
          <a:xfrm>
            <a:off x="4270248" y="245973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0248" y="2459736"/>
            <a:ext cx="5760720" cy="21945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77272" y="243230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100.00%</a:t>
            </a:r>
          </a:p>
        </p:txBody>
      </p:sp>
      <p:sp>
        <p:nvSpPr>
          <p:cNvPr id="11" name="TextBox 10"/>
          <p:cNvSpPr txBox="1"/>
          <p:nvPr/>
        </p:nvSpPr>
        <p:spPr>
          <a:xfrm>
            <a:off x="658368" y="279806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Document date found</a:t>
            </a:r>
          </a:p>
        </p:txBody>
      </p:sp>
      <p:sp>
        <p:nvSpPr>
          <p:cNvPr id="12" name="Rounded Rectangle 11"/>
          <p:cNvSpPr/>
          <p:nvPr/>
        </p:nvSpPr>
        <p:spPr>
          <a:xfrm>
            <a:off x="4270248" y="282549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2825496"/>
            <a:ext cx="5760720" cy="21945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77272" y="279806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100.00%</a:t>
            </a:r>
          </a:p>
        </p:txBody>
      </p:sp>
      <p:sp>
        <p:nvSpPr>
          <p:cNvPr id="15" name="TextBox 14"/>
          <p:cNvSpPr txBox="1"/>
          <p:nvPr/>
        </p:nvSpPr>
        <p:spPr>
          <a:xfrm>
            <a:off x="658368" y="316382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Diagnosis found</a:t>
            </a:r>
          </a:p>
        </p:txBody>
      </p:sp>
      <p:sp>
        <p:nvSpPr>
          <p:cNvPr id="16" name="Rounded Rectangle 15"/>
          <p:cNvSpPr/>
          <p:nvPr/>
        </p:nvSpPr>
        <p:spPr>
          <a:xfrm>
            <a:off x="4270248" y="319125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0248" y="3191256"/>
            <a:ext cx="5760720" cy="21945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77272" y="316382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100.00%</a:t>
            </a:r>
          </a:p>
        </p:txBody>
      </p:sp>
      <p:sp>
        <p:nvSpPr>
          <p:cNvPr id="19" name="TextBox 18"/>
          <p:cNvSpPr txBox="1"/>
          <p:nvPr/>
        </p:nvSpPr>
        <p:spPr>
          <a:xfrm>
            <a:off x="658368" y="352958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Prescriber found</a:t>
            </a:r>
          </a:p>
        </p:txBody>
      </p:sp>
      <p:sp>
        <p:nvSpPr>
          <p:cNvPr id="20" name="Rounded Rectangle 19"/>
          <p:cNvSpPr/>
          <p:nvPr/>
        </p:nvSpPr>
        <p:spPr>
          <a:xfrm>
            <a:off x="4270248" y="355701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557016"/>
            <a:ext cx="5760720" cy="21945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77272" y="352958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100.00%</a:t>
            </a:r>
          </a:p>
        </p:txBody>
      </p:sp>
      <p:sp>
        <p:nvSpPr>
          <p:cNvPr id="23" name="TextBox 22"/>
          <p:cNvSpPr txBox="1"/>
          <p:nvPr/>
        </p:nvSpPr>
        <p:spPr>
          <a:xfrm>
            <a:off x="658368" y="389534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Frequency matched</a:t>
            </a:r>
          </a:p>
        </p:txBody>
      </p:sp>
      <p:sp>
        <p:nvSpPr>
          <p:cNvPr id="24" name="Rounded Rectangle 23"/>
          <p:cNvSpPr/>
          <p:nvPr/>
        </p:nvSpPr>
        <p:spPr>
          <a:xfrm>
            <a:off x="4270248" y="392277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70248" y="3922776"/>
            <a:ext cx="5476140" cy="219456"/>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77272" y="389534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95.06%</a:t>
            </a:r>
          </a:p>
        </p:txBody>
      </p:sp>
      <p:sp>
        <p:nvSpPr>
          <p:cNvPr id="27" name="TextBox 26"/>
          <p:cNvSpPr txBox="1"/>
          <p:nvPr/>
        </p:nvSpPr>
        <p:spPr>
          <a:xfrm>
            <a:off x="658368" y="426110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Medication lines detected</a:t>
            </a:r>
          </a:p>
        </p:txBody>
      </p:sp>
      <p:sp>
        <p:nvSpPr>
          <p:cNvPr id="28" name="Rounded Rectangle 27"/>
          <p:cNvSpPr/>
          <p:nvPr/>
        </p:nvSpPr>
        <p:spPr>
          <a:xfrm>
            <a:off x="4270248" y="428853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70248" y="4288536"/>
            <a:ext cx="5373599" cy="219456"/>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77272" y="426110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93.28%</a:t>
            </a:r>
          </a:p>
        </p:txBody>
      </p:sp>
      <p:sp>
        <p:nvSpPr>
          <p:cNvPr id="31" name="TextBox 30"/>
          <p:cNvSpPr txBox="1"/>
          <p:nvPr/>
        </p:nvSpPr>
        <p:spPr>
          <a:xfrm>
            <a:off x="658368" y="462686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Drug name matched</a:t>
            </a:r>
          </a:p>
        </p:txBody>
      </p:sp>
      <p:sp>
        <p:nvSpPr>
          <p:cNvPr id="32" name="Rounded Rectangle 31"/>
          <p:cNvSpPr/>
          <p:nvPr/>
        </p:nvSpPr>
        <p:spPr>
          <a:xfrm>
            <a:off x="4270248" y="465429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70248" y="4654296"/>
            <a:ext cx="5359197" cy="219456"/>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77272" y="462686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93.03%</a:t>
            </a:r>
          </a:p>
        </p:txBody>
      </p:sp>
      <p:sp>
        <p:nvSpPr>
          <p:cNvPr id="35" name="TextBox 34"/>
          <p:cNvSpPr txBox="1"/>
          <p:nvPr/>
        </p:nvSpPr>
        <p:spPr>
          <a:xfrm>
            <a:off x="658368" y="4992624"/>
            <a:ext cx="3474720" cy="256032"/>
          </a:xfrm>
          <a:prstGeom prst="rect">
            <a:avLst/>
          </a:prstGeom>
          <a:noFill/>
        </p:spPr>
        <p:txBody>
          <a:bodyPr wrap="square" lIns="0" rIns="0" tIns="0" bIns="0" anchor="t">
            <a:spAutoFit/>
          </a:bodyPr>
          <a:lstStyle/>
          <a:p>
            <a:pPr algn="r">
              <a:lnSpc>
                <a:spcPct val="100000"/>
              </a:lnSpc>
            </a:pPr>
            <a:r>
              <a:rPr sz="1250" b="0">
                <a:solidFill>
                  <a:srgbClr val="48595B"/>
                </a:solidFill>
                <a:latin typeface="Calibri"/>
              </a:rPr>
              <a:t>Strength matched</a:t>
            </a:r>
          </a:p>
        </p:txBody>
      </p:sp>
      <p:sp>
        <p:nvSpPr>
          <p:cNvPr id="36" name="Rounded Rectangle 35"/>
          <p:cNvSpPr/>
          <p:nvPr/>
        </p:nvSpPr>
        <p:spPr>
          <a:xfrm>
            <a:off x="4270248" y="5020056"/>
            <a:ext cx="5760720" cy="219456"/>
          </a:xfrm>
          <a:prstGeom prst="roundRect">
            <a:avLst>
              <a:gd name="adj" fmla="val 6000"/>
            </a:avLst>
          </a:prstGeom>
          <a:solidFill>
            <a:srgbClr val="ED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70248" y="5020056"/>
            <a:ext cx="5203658" cy="219456"/>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7272" y="4992624"/>
            <a:ext cx="1188720" cy="256032"/>
          </a:xfrm>
          <a:prstGeom prst="rect">
            <a:avLst/>
          </a:prstGeom>
          <a:noFill/>
        </p:spPr>
        <p:txBody>
          <a:bodyPr wrap="square" lIns="0" rIns="0" tIns="0" bIns="0" anchor="t">
            <a:spAutoFit/>
          </a:bodyPr>
          <a:lstStyle/>
          <a:p>
            <a:pPr algn="l">
              <a:lnSpc>
                <a:spcPct val="100000"/>
              </a:lnSpc>
            </a:pPr>
            <a:r>
              <a:rPr sz="1250" b="1">
                <a:solidFill>
                  <a:srgbClr val="14201F"/>
                </a:solidFill>
                <a:latin typeface="Consolas"/>
              </a:rPr>
              <a:t>90.33%</a:t>
            </a:r>
          </a:p>
        </p:txBody>
      </p:sp>
      <p:sp>
        <p:nvSpPr>
          <p:cNvPr id="39" name="TextBox 38"/>
          <p:cNvSpPr txBox="1"/>
          <p:nvPr/>
        </p:nvSpPr>
        <p:spPr>
          <a:xfrm>
            <a:off x="4087368" y="5321808"/>
            <a:ext cx="365760" cy="182880"/>
          </a:xfrm>
          <a:prstGeom prst="rect">
            <a:avLst/>
          </a:prstGeom>
          <a:noFill/>
        </p:spPr>
        <p:txBody>
          <a:bodyPr wrap="square" lIns="0" rIns="0" tIns="0" bIns="0" anchor="t">
            <a:spAutoFit/>
          </a:bodyPr>
          <a:lstStyle/>
          <a:p>
            <a:pPr algn="ctr">
              <a:lnSpc>
                <a:spcPct val="100000"/>
              </a:lnSpc>
            </a:pPr>
            <a:r>
              <a:rPr sz="900" b="0">
                <a:solidFill>
                  <a:srgbClr val="78898B"/>
                </a:solidFill>
                <a:latin typeface="Consolas"/>
              </a:rPr>
              <a:t>0</a:t>
            </a:r>
          </a:p>
        </p:txBody>
      </p:sp>
      <p:sp>
        <p:nvSpPr>
          <p:cNvPr id="40" name="TextBox 39"/>
          <p:cNvSpPr txBox="1"/>
          <p:nvPr/>
        </p:nvSpPr>
        <p:spPr>
          <a:xfrm>
            <a:off x="6967728" y="5321808"/>
            <a:ext cx="365760" cy="182880"/>
          </a:xfrm>
          <a:prstGeom prst="rect">
            <a:avLst/>
          </a:prstGeom>
          <a:noFill/>
        </p:spPr>
        <p:txBody>
          <a:bodyPr wrap="square" lIns="0" rIns="0" tIns="0" bIns="0" anchor="t">
            <a:spAutoFit/>
          </a:bodyPr>
          <a:lstStyle/>
          <a:p>
            <a:pPr algn="ctr">
              <a:lnSpc>
                <a:spcPct val="100000"/>
              </a:lnSpc>
            </a:pPr>
            <a:r>
              <a:rPr sz="900" b="0">
                <a:solidFill>
                  <a:srgbClr val="78898B"/>
                </a:solidFill>
                <a:latin typeface="Consolas"/>
              </a:rPr>
              <a:t>50</a:t>
            </a:r>
          </a:p>
        </p:txBody>
      </p:sp>
      <p:sp>
        <p:nvSpPr>
          <p:cNvPr id="41" name="TextBox 40"/>
          <p:cNvSpPr txBox="1"/>
          <p:nvPr/>
        </p:nvSpPr>
        <p:spPr>
          <a:xfrm>
            <a:off x="8983980" y="5321808"/>
            <a:ext cx="365760" cy="182880"/>
          </a:xfrm>
          <a:prstGeom prst="rect">
            <a:avLst/>
          </a:prstGeom>
          <a:noFill/>
        </p:spPr>
        <p:txBody>
          <a:bodyPr wrap="square" lIns="0" rIns="0" tIns="0" bIns="0" anchor="t">
            <a:spAutoFit/>
          </a:bodyPr>
          <a:lstStyle/>
          <a:p>
            <a:pPr algn="ctr">
              <a:lnSpc>
                <a:spcPct val="100000"/>
              </a:lnSpc>
            </a:pPr>
            <a:r>
              <a:rPr sz="900" b="0">
                <a:solidFill>
                  <a:srgbClr val="78898B"/>
                </a:solidFill>
                <a:latin typeface="Consolas"/>
              </a:rPr>
              <a:t>85</a:t>
            </a:r>
          </a:p>
        </p:txBody>
      </p:sp>
      <p:sp>
        <p:nvSpPr>
          <p:cNvPr id="42" name="TextBox 41"/>
          <p:cNvSpPr txBox="1"/>
          <p:nvPr/>
        </p:nvSpPr>
        <p:spPr>
          <a:xfrm>
            <a:off x="9848088" y="5321808"/>
            <a:ext cx="365760" cy="182880"/>
          </a:xfrm>
          <a:prstGeom prst="rect">
            <a:avLst/>
          </a:prstGeom>
          <a:noFill/>
        </p:spPr>
        <p:txBody>
          <a:bodyPr wrap="square" lIns="0" rIns="0" tIns="0" bIns="0" anchor="t">
            <a:spAutoFit/>
          </a:bodyPr>
          <a:lstStyle/>
          <a:p>
            <a:pPr algn="ctr">
              <a:lnSpc>
                <a:spcPct val="100000"/>
              </a:lnSpc>
            </a:pPr>
            <a:r>
              <a:rPr sz="900" b="0">
                <a:solidFill>
                  <a:srgbClr val="78898B"/>
                </a:solidFill>
                <a:latin typeface="Consolas"/>
              </a:rPr>
              <a:t>100</a:t>
            </a:r>
          </a:p>
        </p:txBody>
      </p:sp>
      <p:sp>
        <p:nvSpPr>
          <p:cNvPr id="43" name="Rectangle 42"/>
          <p:cNvSpPr/>
          <p:nvPr/>
        </p:nvSpPr>
        <p:spPr>
          <a:xfrm>
            <a:off x="9166859" y="2368296"/>
            <a:ext cx="10972" cy="2962656"/>
          </a:xfrm>
          <a:prstGeom prst="rect">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1724" y="5522976"/>
            <a:ext cx="3108960" cy="201168"/>
          </a:xfrm>
          <a:prstGeom prst="rect">
            <a:avLst/>
          </a:prstGeom>
          <a:noFill/>
        </p:spPr>
        <p:txBody>
          <a:bodyPr wrap="square" lIns="0" rIns="0" tIns="0" bIns="0" anchor="t">
            <a:spAutoFit/>
          </a:bodyPr>
          <a:lstStyle/>
          <a:p>
            <a:pPr algn="l">
              <a:lnSpc>
                <a:spcPct val="100000"/>
              </a:lnSpc>
            </a:pPr>
            <a:r>
              <a:rPr sz="950" b="1">
                <a:solidFill>
                  <a:srgbClr val="B26A16"/>
                </a:solidFill>
                <a:latin typeface="Consolas"/>
              </a:rPr>
              <a:t>↑ 85% target</a:t>
            </a:r>
          </a:p>
        </p:txBody>
      </p:sp>
      <p:sp>
        <p:nvSpPr>
          <p:cNvPr id="45" name="Rounded Rectangle 44"/>
          <p:cNvSpPr/>
          <p:nvPr/>
        </p:nvSpPr>
        <p:spPr>
          <a:xfrm>
            <a:off x="658368" y="5779008"/>
            <a:ext cx="10881360" cy="566928"/>
          </a:xfrm>
          <a:prstGeom prst="roundRect">
            <a:avLst>
              <a:gd name="adj" fmla="val 6000"/>
            </a:avLst>
          </a:prstGeom>
          <a:solidFill>
            <a:srgbClr val="FFFFFF"/>
          </a:solidFill>
          <a:ln w="2032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 y="5870448"/>
            <a:ext cx="10332720" cy="457200"/>
          </a:xfrm>
          <a:prstGeom prst="rect">
            <a:avLst/>
          </a:prstGeom>
          <a:noFill/>
        </p:spPr>
        <p:txBody>
          <a:bodyPr wrap="square" lIns="0" rIns="0" tIns="0" bIns="0" anchor="t">
            <a:spAutoFit/>
          </a:bodyPr>
          <a:lstStyle/>
          <a:p>
            <a:pPr algn="l">
              <a:lnSpc>
                <a:spcPct val="130000"/>
              </a:lnSpc>
            </a:pPr>
            <a:r>
              <a:rPr sz="1250" b="0">
                <a:solidFill>
                  <a:srgbClr val="48595B"/>
                </a:solidFill>
                <a:latin typeface="Calibri"/>
              </a:rPr>
              <a:t>This is the rule layer ALONE — no machine learning yet. It already clears the project's targets of 90% classification and 85% entity extraction. The neural NER of the next phase is expected to lift drug-name matching further.</a:t>
            </a:r>
          </a:p>
        </p:txBody>
      </p:sp>
      <p:sp>
        <p:nvSpPr>
          <p:cNvPr id="47" name="TextBox 46"/>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48" name="TextBox 47"/>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13   RESULT ANALYSIS  ·  2 OF 3</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System verification — 86 automated tests, all passing</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1965960" cy="9326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883664"/>
            <a:ext cx="1645920" cy="457200"/>
          </a:xfrm>
          <a:prstGeom prst="rect">
            <a:avLst/>
          </a:prstGeom>
          <a:noFill/>
        </p:spPr>
        <p:txBody>
          <a:bodyPr wrap="square" lIns="0" rIns="0" tIns="0" bIns="0" anchor="t">
            <a:spAutoFit/>
          </a:bodyPr>
          <a:lstStyle/>
          <a:p>
            <a:pPr algn="l">
              <a:lnSpc>
                <a:spcPct val="100000"/>
              </a:lnSpc>
            </a:pPr>
            <a:r>
              <a:rPr sz="3000" b="1">
                <a:solidFill>
                  <a:srgbClr val="2E7D5B"/>
                </a:solidFill>
                <a:latin typeface="Calibri"/>
              </a:rPr>
              <a:t>64</a:t>
            </a:r>
          </a:p>
        </p:txBody>
      </p:sp>
      <p:sp>
        <p:nvSpPr>
          <p:cNvPr id="8" name="TextBox 7"/>
          <p:cNvSpPr txBox="1"/>
          <p:nvPr/>
        </p:nvSpPr>
        <p:spPr>
          <a:xfrm>
            <a:off x="841247" y="2359152"/>
            <a:ext cx="1645920" cy="228600"/>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security layer</a:t>
            </a:r>
          </a:p>
        </p:txBody>
      </p:sp>
      <p:sp>
        <p:nvSpPr>
          <p:cNvPr id="9" name="Rounded Rectangle 8"/>
          <p:cNvSpPr/>
          <p:nvPr/>
        </p:nvSpPr>
        <p:spPr>
          <a:xfrm>
            <a:off x="2807208" y="1773936"/>
            <a:ext cx="1965960" cy="9326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8" y="1883664"/>
            <a:ext cx="1645920" cy="457200"/>
          </a:xfrm>
          <a:prstGeom prst="rect">
            <a:avLst/>
          </a:prstGeom>
          <a:noFill/>
        </p:spPr>
        <p:txBody>
          <a:bodyPr wrap="square" lIns="0" rIns="0" tIns="0" bIns="0" anchor="t">
            <a:spAutoFit/>
          </a:bodyPr>
          <a:lstStyle/>
          <a:p>
            <a:pPr algn="l">
              <a:lnSpc>
                <a:spcPct val="100000"/>
              </a:lnSpc>
            </a:pPr>
            <a:r>
              <a:rPr sz="3000" b="1">
                <a:solidFill>
                  <a:srgbClr val="0B6E77"/>
                </a:solidFill>
                <a:latin typeface="Calibri"/>
              </a:rPr>
              <a:t>22</a:t>
            </a:r>
          </a:p>
        </p:txBody>
      </p:sp>
      <p:sp>
        <p:nvSpPr>
          <p:cNvPr id="11" name="TextBox 10"/>
          <p:cNvSpPr txBox="1"/>
          <p:nvPr/>
        </p:nvSpPr>
        <p:spPr>
          <a:xfrm>
            <a:off x="2990088" y="2359152"/>
            <a:ext cx="1645920" cy="228600"/>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understanding layer</a:t>
            </a:r>
          </a:p>
        </p:txBody>
      </p:sp>
      <p:sp>
        <p:nvSpPr>
          <p:cNvPr id="12" name="Rounded Rectangle 11"/>
          <p:cNvSpPr/>
          <p:nvPr/>
        </p:nvSpPr>
        <p:spPr>
          <a:xfrm>
            <a:off x="4956048" y="1773936"/>
            <a:ext cx="1965960" cy="9326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8928" y="1883664"/>
            <a:ext cx="1645920" cy="457200"/>
          </a:xfrm>
          <a:prstGeom prst="rect">
            <a:avLst/>
          </a:prstGeom>
          <a:noFill/>
        </p:spPr>
        <p:txBody>
          <a:bodyPr wrap="square" lIns="0" rIns="0" tIns="0" bIns="0" anchor="t">
            <a:spAutoFit/>
          </a:bodyPr>
          <a:lstStyle/>
          <a:p>
            <a:pPr algn="l">
              <a:lnSpc>
                <a:spcPct val="100000"/>
              </a:lnSpc>
            </a:pPr>
            <a:r>
              <a:rPr sz="3000" b="1">
                <a:solidFill>
                  <a:srgbClr val="14201F"/>
                </a:solidFill>
                <a:latin typeface="Calibri"/>
              </a:rPr>
              <a:t>0</a:t>
            </a:r>
          </a:p>
        </p:txBody>
      </p:sp>
      <p:sp>
        <p:nvSpPr>
          <p:cNvPr id="14" name="TextBox 13"/>
          <p:cNvSpPr txBox="1"/>
          <p:nvPr/>
        </p:nvSpPr>
        <p:spPr>
          <a:xfrm>
            <a:off x="5138928" y="2359152"/>
            <a:ext cx="1645920" cy="228600"/>
          </a:xfrm>
          <a:prstGeom prst="rect">
            <a:avLst/>
          </a:prstGeom>
          <a:noFill/>
        </p:spPr>
        <p:txBody>
          <a:bodyPr wrap="square" lIns="0" rIns="0" tIns="0" bIns="0" anchor="t">
            <a:spAutoFit/>
          </a:bodyPr>
          <a:lstStyle/>
          <a:p>
            <a:pPr algn="l">
              <a:lnSpc>
                <a:spcPct val="100000"/>
              </a:lnSpc>
            </a:pPr>
            <a:r>
              <a:rPr sz="1050" b="0">
                <a:solidFill>
                  <a:srgbClr val="78898B"/>
                </a:solidFill>
                <a:latin typeface="Consolas"/>
              </a:rPr>
              <a:t>failing</a:t>
            </a:r>
          </a:p>
        </p:txBody>
      </p:sp>
      <p:sp>
        <p:nvSpPr>
          <p:cNvPr id="15" name="TextBox 14"/>
          <p:cNvSpPr txBox="1"/>
          <p:nvPr/>
        </p:nvSpPr>
        <p:spPr>
          <a:xfrm>
            <a:off x="658368" y="2907792"/>
            <a:ext cx="10881360" cy="274320"/>
          </a:xfrm>
          <a:prstGeom prst="rect">
            <a:avLst/>
          </a:prstGeom>
          <a:noFill/>
        </p:spPr>
        <p:txBody>
          <a:bodyPr wrap="square" lIns="0" rIns="0" tIns="0" bIns="0" anchor="t">
            <a:spAutoFit/>
          </a:bodyPr>
          <a:lstStyle/>
          <a:p>
            <a:pPr algn="l">
              <a:lnSpc>
                <a:spcPct val="100000"/>
              </a:lnSpc>
            </a:pPr>
            <a:r>
              <a:rPr sz="950" b="1" spc="120">
                <a:solidFill>
                  <a:srgbClr val="78898B"/>
                </a:solidFill>
                <a:latin typeface="Consolas"/>
              </a:rPr>
              <a:t>PROPERTIES PROVEN, NOT ASSERTED</a:t>
            </a:r>
          </a:p>
        </p:txBody>
      </p:sp>
      <p:sp>
        <p:nvSpPr>
          <p:cNvPr id="16" name="Rounded Rectangle 15"/>
          <p:cNvSpPr/>
          <p:nvPr/>
        </p:nvSpPr>
        <p:spPr>
          <a:xfrm>
            <a:off x="658368" y="3236976"/>
            <a:ext cx="5257800" cy="4754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291840"/>
            <a:ext cx="201168" cy="274320"/>
          </a:xfrm>
          <a:prstGeom prst="rect">
            <a:avLst/>
          </a:prstGeom>
          <a:noFill/>
        </p:spPr>
        <p:txBody>
          <a:bodyPr wrap="square" lIns="0" rIns="0" tIns="0" bIns="0" anchor="t">
            <a:spAutoFit/>
          </a:bodyPr>
          <a:lstStyle/>
          <a:p>
            <a:pPr algn="l">
              <a:lnSpc>
                <a:spcPct val="100000"/>
              </a:lnSpc>
            </a:pPr>
            <a:r>
              <a:rPr sz="1300" b="1">
                <a:solidFill>
                  <a:srgbClr val="2E7D5B"/>
                </a:solidFill>
                <a:latin typeface="Calibri"/>
              </a:rPr>
              <a:t>✓</a:t>
            </a:r>
          </a:p>
        </p:txBody>
      </p:sp>
      <p:sp>
        <p:nvSpPr>
          <p:cNvPr id="18" name="TextBox 17"/>
          <p:cNvSpPr txBox="1"/>
          <p:nvPr/>
        </p:nvSpPr>
        <p:spPr>
          <a:xfrm>
            <a:off x="1097280" y="3291840"/>
            <a:ext cx="2011680" cy="274320"/>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Idempotence</a:t>
            </a:r>
          </a:p>
        </p:txBody>
      </p:sp>
      <p:sp>
        <p:nvSpPr>
          <p:cNvPr id="19" name="TextBox 18"/>
          <p:cNvSpPr txBox="1"/>
          <p:nvPr/>
        </p:nvSpPr>
        <p:spPr>
          <a:xfrm>
            <a:off x="3054096" y="3310128"/>
            <a:ext cx="2743200" cy="274320"/>
          </a:xfrm>
          <a:prstGeom prst="rect">
            <a:avLst/>
          </a:prstGeom>
          <a:noFill/>
        </p:spPr>
        <p:txBody>
          <a:bodyPr wrap="square" lIns="0" rIns="0" tIns="0" bIns="0" anchor="t">
            <a:spAutoFit/>
          </a:bodyPr>
          <a:lstStyle/>
          <a:p>
            <a:pPr algn="l">
              <a:lnSpc>
                <a:spcPct val="100000"/>
              </a:lnSpc>
            </a:pPr>
            <a:r>
              <a:rPr sz="1050" b="0">
                <a:solidFill>
                  <a:srgbClr val="48595B"/>
                </a:solidFill>
                <a:latin typeface="Calibri"/>
              </a:rPr>
              <a:t>re-uploading the same document changes nothing</a:t>
            </a:r>
          </a:p>
        </p:txBody>
      </p:sp>
      <p:sp>
        <p:nvSpPr>
          <p:cNvPr id="20" name="Rounded Rectangle 19"/>
          <p:cNvSpPr/>
          <p:nvPr/>
        </p:nvSpPr>
        <p:spPr>
          <a:xfrm>
            <a:off x="6144768" y="3236976"/>
            <a:ext cx="5257800" cy="4754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3291840"/>
            <a:ext cx="201168" cy="274320"/>
          </a:xfrm>
          <a:prstGeom prst="rect">
            <a:avLst/>
          </a:prstGeom>
          <a:noFill/>
        </p:spPr>
        <p:txBody>
          <a:bodyPr wrap="square" lIns="0" rIns="0" tIns="0" bIns="0" anchor="t">
            <a:spAutoFit/>
          </a:bodyPr>
          <a:lstStyle/>
          <a:p>
            <a:pPr algn="l">
              <a:lnSpc>
                <a:spcPct val="100000"/>
              </a:lnSpc>
            </a:pPr>
            <a:r>
              <a:rPr sz="1300" b="1">
                <a:solidFill>
                  <a:srgbClr val="2E7D5B"/>
                </a:solidFill>
                <a:latin typeface="Calibri"/>
              </a:rPr>
              <a:t>✓</a:t>
            </a:r>
          </a:p>
        </p:txBody>
      </p:sp>
      <p:sp>
        <p:nvSpPr>
          <p:cNvPr id="22" name="TextBox 21"/>
          <p:cNvSpPr txBox="1"/>
          <p:nvPr/>
        </p:nvSpPr>
        <p:spPr>
          <a:xfrm>
            <a:off x="6583679" y="3291840"/>
            <a:ext cx="2011680" cy="274320"/>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Monotonicity</a:t>
            </a:r>
          </a:p>
        </p:txBody>
      </p:sp>
      <p:sp>
        <p:nvSpPr>
          <p:cNvPr id="23" name="TextBox 22"/>
          <p:cNvSpPr txBox="1"/>
          <p:nvPr/>
        </p:nvSpPr>
        <p:spPr>
          <a:xfrm>
            <a:off x="8540496" y="3310128"/>
            <a:ext cx="2743200" cy="274320"/>
          </a:xfrm>
          <a:prstGeom prst="rect">
            <a:avLst/>
          </a:prstGeom>
          <a:noFill/>
        </p:spPr>
        <p:txBody>
          <a:bodyPr wrap="square" lIns="0" rIns="0" tIns="0" bIns="0" anchor="t">
            <a:spAutoFit/>
          </a:bodyPr>
          <a:lstStyle/>
          <a:p>
            <a:pPr algn="l">
              <a:lnSpc>
                <a:spcPct val="100000"/>
              </a:lnSpc>
            </a:pPr>
            <a:r>
              <a:rPr sz="1050" b="0">
                <a:solidFill>
                  <a:srgbClr val="48595B"/>
                </a:solidFill>
                <a:latin typeface="Calibri"/>
              </a:rPr>
              <a:t>no merge ever loses a fact</a:t>
            </a:r>
          </a:p>
        </p:txBody>
      </p:sp>
      <p:sp>
        <p:nvSpPr>
          <p:cNvPr id="24" name="Rounded Rectangle 23"/>
          <p:cNvSpPr/>
          <p:nvPr/>
        </p:nvSpPr>
        <p:spPr>
          <a:xfrm>
            <a:off x="658368" y="3803904"/>
            <a:ext cx="5257800" cy="4754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858768"/>
            <a:ext cx="201168" cy="274320"/>
          </a:xfrm>
          <a:prstGeom prst="rect">
            <a:avLst/>
          </a:prstGeom>
          <a:noFill/>
        </p:spPr>
        <p:txBody>
          <a:bodyPr wrap="square" lIns="0" rIns="0" tIns="0" bIns="0" anchor="t">
            <a:spAutoFit/>
          </a:bodyPr>
          <a:lstStyle/>
          <a:p>
            <a:pPr algn="l">
              <a:lnSpc>
                <a:spcPct val="100000"/>
              </a:lnSpc>
            </a:pPr>
            <a:r>
              <a:rPr sz="1300" b="1">
                <a:solidFill>
                  <a:srgbClr val="2E7D5B"/>
                </a:solidFill>
                <a:latin typeface="Calibri"/>
              </a:rPr>
              <a:t>✓</a:t>
            </a:r>
          </a:p>
        </p:txBody>
      </p:sp>
      <p:sp>
        <p:nvSpPr>
          <p:cNvPr id="26" name="TextBox 25"/>
          <p:cNvSpPr txBox="1"/>
          <p:nvPr/>
        </p:nvSpPr>
        <p:spPr>
          <a:xfrm>
            <a:off x="1097280" y="3858768"/>
            <a:ext cx="2011680" cy="274320"/>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Section isolation</a:t>
            </a:r>
          </a:p>
        </p:txBody>
      </p:sp>
      <p:sp>
        <p:nvSpPr>
          <p:cNvPr id="27" name="TextBox 26"/>
          <p:cNvSpPr txBox="1"/>
          <p:nvPr/>
        </p:nvSpPr>
        <p:spPr>
          <a:xfrm>
            <a:off x="3054096" y="3877056"/>
            <a:ext cx="2743200" cy="274320"/>
          </a:xfrm>
          <a:prstGeom prst="rect">
            <a:avLst/>
          </a:prstGeom>
          <a:noFill/>
        </p:spPr>
        <p:txBody>
          <a:bodyPr wrap="square" lIns="0" rIns="0" tIns="0" bIns="0" anchor="t">
            <a:spAutoFit/>
          </a:bodyPr>
          <a:lstStyle/>
          <a:p>
            <a:pPr algn="l">
              <a:lnSpc>
                <a:spcPct val="100000"/>
              </a:lnSpc>
            </a:pPr>
            <a:r>
              <a:rPr sz="1050" b="0">
                <a:solidFill>
                  <a:srgbClr val="48595B"/>
                </a:solidFill>
                <a:latin typeface="Calibri"/>
              </a:rPr>
              <a:t>a prescription does not rewrite the lab summary</a:t>
            </a:r>
          </a:p>
        </p:txBody>
      </p:sp>
      <p:sp>
        <p:nvSpPr>
          <p:cNvPr id="28" name="Rounded Rectangle 27"/>
          <p:cNvSpPr/>
          <p:nvPr/>
        </p:nvSpPr>
        <p:spPr>
          <a:xfrm>
            <a:off x="6144768" y="3803904"/>
            <a:ext cx="5257800" cy="4754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59" y="3858768"/>
            <a:ext cx="201168" cy="274320"/>
          </a:xfrm>
          <a:prstGeom prst="rect">
            <a:avLst/>
          </a:prstGeom>
          <a:noFill/>
        </p:spPr>
        <p:txBody>
          <a:bodyPr wrap="square" lIns="0" rIns="0" tIns="0" bIns="0" anchor="t">
            <a:spAutoFit/>
          </a:bodyPr>
          <a:lstStyle/>
          <a:p>
            <a:pPr algn="l">
              <a:lnSpc>
                <a:spcPct val="100000"/>
              </a:lnSpc>
            </a:pPr>
            <a:r>
              <a:rPr sz="1300" b="1">
                <a:solidFill>
                  <a:srgbClr val="2E7D5B"/>
                </a:solidFill>
                <a:latin typeface="Calibri"/>
              </a:rPr>
              <a:t>✓</a:t>
            </a:r>
          </a:p>
        </p:txBody>
      </p:sp>
      <p:sp>
        <p:nvSpPr>
          <p:cNvPr id="30" name="TextBox 29"/>
          <p:cNvSpPr txBox="1"/>
          <p:nvPr/>
        </p:nvSpPr>
        <p:spPr>
          <a:xfrm>
            <a:off x="6583679" y="3858768"/>
            <a:ext cx="2011680" cy="274320"/>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Determinism</a:t>
            </a:r>
          </a:p>
        </p:txBody>
      </p:sp>
      <p:sp>
        <p:nvSpPr>
          <p:cNvPr id="31" name="TextBox 30"/>
          <p:cNvSpPr txBox="1"/>
          <p:nvPr/>
        </p:nvSpPr>
        <p:spPr>
          <a:xfrm>
            <a:off x="8540496" y="3877056"/>
            <a:ext cx="2743200" cy="274320"/>
          </a:xfrm>
          <a:prstGeom prst="rect">
            <a:avLst/>
          </a:prstGeom>
          <a:noFill/>
        </p:spPr>
        <p:txBody>
          <a:bodyPr wrap="square" lIns="0" rIns="0" tIns="0" bIns="0" anchor="t">
            <a:spAutoFit/>
          </a:bodyPr>
          <a:lstStyle/>
          <a:p>
            <a:pPr algn="l">
              <a:lnSpc>
                <a:spcPct val="100000"/>
              </a:lnSpc>
            </a:pPr>
            <a:r>
              <a:rPr sz="1050" b="0">
                <a:solidFill>
                  <a:srgbClr val="48595B"/>
                </a:solidFill>
                <a:latin typeface="Calibri"/>
              </a:rPr>
              <a:t>identical summary when the facts are unchanged</a:t>
            </a:r>
          </a:p>
        </p:txBody>
      </p:sp>
      <p:sp>
        <p:nvSpPr>
          <p:cNvPr id="32" name="Rounded Rectangle 31"/>
          <p:cNvSpPr/>
          <p:nvPr/>
        </p:nvSpPr>
        <p:spPr>
          <a:xfrm>
            <a:off x="658368" y="4370832"/>
            <a:ext cx="5257800" cy="4754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4425696"/>
            <a:ext cx="201168" cy="274320"/>
          </a:xfrm>
          <a:prstGeom prst="rect">
            <a:avLst/>
          </a:prstGeom>
          <a:noFill/>
        </p:spPr>
        <p:txBody>
          <a:bodyPr wrap="square" lIns="0" rIns="0" tIns="0" bIns="0" anchor="t">
            <a:spAutoFit/>
          </a:bodyPr>
          <a:lstStyle/>
          <a:p>
            <a:pPr algn="l">
              <a:lnSpc>
                <a:spcPct val="100000"/>
              </a:lnSpc>
            </a:pPr>
            <a:r>
              <a:rPr sz="1300" b="1">
                <a:solidFill>
                  <a:srgbClr val="2E7D5B"/>
                </a:solidFill>
                <a:latin typeface="Calibri"/>
              </a:rPr>
              <a:t>✓</a:t>
            </a:r>
          </a:p>
        </p:txBody>
      </p:sp>
      <p:sp>
        <p:nvSpPr>
          <p:cNvPr id="34" name="TextBox 33"/>
          <p:cNvSpPr txBox="1"/>
          <p:nvPr/>
        </p:nvSpPr>
        <p:spPr>
          <a:xfrm>
            <a:off x="1097280" y="4425696"/>
            <a:ext cx="2011680" cy="274320"/>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Duplicate detection</a:t>
            </a:r>
          </a:p>
        </p:txBody>
      </p:sp>
      <p:sp>
        <p:nvSpPr>
          <p:cNvPr id="35" name="TextBox 34"/>
          <p:cNvSpPr txBox="1"/>
          <p:nvPr/>
        </p:nvSpPr>
        <p:spPr>
          <a:xfrm>
            <a:off x="3054096" y="4443984"/>
            <a:ext cx="2743200" cy="274320"/>
          </a:xfrm>
          <a:prstGeom prst="rect">
            <a:avLst/>
          </a:prstGeom>
          <a:noFill/>
        </p:spPr>
        <p:txBody>
          <a:bodyPr wrap="square" lIns="0" rIns="0" tIns="0" bIns="0" anchor="t">
            <a:spAutoFit/>
          </a:bodyPr>
          <a:lstStyle/>
          <a:p>
            <a:pPr algn="l">
              <a:lnSpc>
                <a:spcPct val="100000"/>
              </a:lnSpc>
            </a:pPr>
            <a:r>
              <a:rPr sz="1050" b="0">
                <a:solidFill>
                  <a:srgbClr val="48595B"/>
                </a:solidFill>
                <a:latin typeface="Calibri"/>
              </a:rPr>
              <a:t>Dolo 650 + Calpol flagged, both sources cited</a:t>
            </a:r>
          </a:p>
        </p:txBody>
      </p:sp>
      <p:sp>
        <p:nvSpPr>
          <p:cNvPr id="36" name="Rounded Rectangle 35"/>
          <p:cNvSpPr/>
          <p:nvPr/>
        </p:nvSpPr>
        <p:spPr>
          <a:xfrm>
            <a:off x="6144768" y="4370832"/>
            <a:ext cx="5257800" cy="475488"/>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59" y="4425696"/>
            <a:ext cx="201168" cy="274320"/>
          </a:xfrm>
          <a:prstGeom prst="rect">
            <a:avLst/>
          </a:prstGeom>
          <a:noFill/>
        </p:spPr>
        <p:txBody>
          <a:bodyPr wrap="square" lIns="0" rIns="0" tIns="0" bIns="0" anchor="t">
            <a:spAutoFit/>
          </a:bodyPr>
          <a:lstStyle/>
          <a:p>
            <a:pPr algn="l">
              <a:lnSpc>
                <a:spcPct val="100000"/>
              </a:lnSpc>
            </a:pPr>
            <a:r>
              <a:rPr sz="1300" b="1">
                <a:solidFill>
                  <a:srgbClr val="2E7D5B"/>
                </a:solidFill>
                <a:latin typeface="Calibri"/>
              </a:rPr>
              <a:t>✓</a:t>
            </a:r>
          </a:p>
        </p:txBody>
      </p:sp>
      <p:sp>
        <p:nvSpPr>
          <p:cNvPr id="38" name="TextBox 37"/>
          <p:cNvSpPr txBox="1"/>
          <p:nvPr/>
        </p:nvSpPr>
        <p:spPr>
          <a:xfrm>
            <a:off x="6583679" y="4425696"/>
            <a:ext cx="2011680" cy="274320"/>
          </a:xfrm>
          <a:prstGeom prst="rect">
            <a:avLst/>
          </a:prstGeom>
          <a:noFill/>
        </p:spPr>
        <p:txBody>
          <a:bodyPr wrap="square" lIns="0" rIns="0" tIns="0" bIns="0" anchor="t">
            <a:spAutoFit/>
          </a:bodyPr>
          <a:lstStyle/>
          <a:p>
            <a:pPr algn="l">
              <a:lnSpc>
                <a:spcPct val="100000"/>
              </a:lnSpc>
            </a:pPr>
            <a:r>
              <a:rPr sz="1200" b="1">
                <a:solidFill>
                  <a:srgbClr val="14201F"/>
                </a:solidFill>
                <a:latin typeface="Calibri"/>
              </a:rPr>
              <a:t>Provenance</a:t>
            </a:r>
          </a:p>
        </p:txBody>
      </p:sp>
      <p:sp>
        <p:nvSpPr>
          <p:cNvPr id="39" name="TextBox 38"/>
          <p:cNvSpPr txBox="1"/>
          <p:nvPr/>
        </p:nvSpPr>
        <p:spPr>
          <a:xfrm>
            <a:off x="8540496" y="4443984"/>
            <a:ext cx="2743200" cy="274320"/>
          </a:xfrm>
          <a:prstGeom prst="rect">
            <a:avLst/>
          </a:prstGeom>
          <a:noFill/>
        </p:spPr>
        <p:txBody>
          <a:bodyPr wrap="square" lIns="0" rIns="0" tIns="0" bIns="0" anchor="t">
            <a:spAutoFit/>
          </a:bodyPr>
          <a:lstStyle/>
          <a:p>
            <a:pPr algn="l">
              <a:lnSpc>
                <a:spcPct val="100000"/>
              </a:lnSpc>
            </a:pPr>
            <a:r>
              <a:rPr sz="1050" b="0">
                <a:solidFill>
                  <a:srgbClr val="48595B"/>
                </a:solidFill>
                <a:latin typeface="Calibri"/>
              </a:rPr>
              <a:t>a fact without a source cannot be constructed</a:t>
            </a:r>
          </a:p>
        </p:txBody>
      </p:sp>
      <p:sp>
        <p:nvSpPr>
          <p:cNvPr id="40" name="Rounded Rectangle 39"/>
          <p:cNvSpPr/>
          <p:nvPr/>
        </p:nvSpPr>
        <p:spPr>
          <a:xfrm>
            <a:off x="658368" y="5065776"/>
            <a:ext cx="10881360" cy="960120"/>
          </a:xfrm>
          <a:prstGeom prst="roundRect">
            <a:avLst>
              <a:gd name="adj" fmla="val 6000"/>
            </a:avLst>
          </a:prstGeom>
          <a:noFill/>
          <a:ln w="15875">
            <a:solidFill>
              <a:srgbClr val="7889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2688" y="5234940"/>
            <a:ext cx="10332720" cy="640080"/>
          </a:xfrm>
          <a:prstGeom prst="rect">
            <a:avLst/>
          </a:prstGeom>
          <a:noFill/>
        </p:spPr>
        <p:txBody>
          <a:bodyPr wrap="square" lIns="0" rIns="0" tIns="0" bIns="0" anchor="t">
            <a:spAutoFit/>
          </a:bodyPr>
          <a:lstStyle/>
          <a:p>
            <a:pPr algn="ctr">
              <a:lnSpc>
                <a:spcPct val="150000"/>
              </a:lnSpc>
            </a:pPr>
            <a:r>
              <a:rPr sz="1100" b="1" spc="80">
                <a:solidFill>
                  <a:srgbClr val="78898B"/>
                </a:solidFill>
                <a:latin typeface="Consolas"/>
              </a:rPr>
              <a:t>◻  SPACE FOR VISUAL</a:t>
            </a:r>
          </a:p>
          <a:p>
            <a:pPr algn="ctr">
              <a:lnSpc>
                <a:spcPct val="150000"/>
              </a:lnSpc>
            </a:pPr>
            <a:r>
              <a:rPr sz="1100" b="1" spc="80">
                <a:solidFill>
                  <a:srgbClr val="78898B"/>
                </a:solidFill>
                <a:latin typeface="Consolas"/>
              </a:rPr>
              <a:t>screenshot of the test run  —  ./gradlew test  —  86 passed</a:t>
            </a:r>
          </a:p>
        </p:txBody>
      </p:sp>
      <p:sp>
        <p:nvSpPr>
          <p:cNvPr id="42" name="TextBox 41"/>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43" name="TextBox 42"/>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14   RESULT ANALYSIS  ·  3 OF 3</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Compared against our own earlier version</a:t>
            </a:r>
          </a:p>
        </p:txBody>
      </p:sp>
      <p:sp>
        <p:nvSpPr>
          <p:cNvPr id="5" name="TextBox 4"/>
          <p:cNvSpPr txBox="1"/>
          <p:nvPr/>
        </p:nvSpPr>
        <p:spPr>
          <a:xfrm>
            <a:off x="658368" y="1481328"/>
            <a:ext cx="9777679" cy="457200"/>
          </a:xfrm>
          <a:prstGeom prst="rect">
            <a:avLst/>
          </a:prstGeom>
          <a:noFill/>
        </p:spPr>
        <p:txBody>
          <a:bodyPr wrap="square" lIns="0" rIns="0" tIns="0" bIns="0" anchor="t">
            <a:spAutoFit/>
          </a:bodyPr>
          <a:lstStyle/>
          <a:p>
            <a:pPr algn="l">
              <a:lnSpc>
                <a:spcPct val="115000"/>
              </a:lnSpc>
            </a:pPr>
            <a:r>
              <a:rPr sz="1400" b="0">
                <a:solidFill>
                  <a:srgbClr val="48595B"/>
                </a:solidFill>
                <a:latin typeface="Calibri"/>
              </a:rPr>
              <a:t>The honest baseline is the Flutter prototype we built first, which used a cloud model.</a:t>
            </a:r>
          </a:p>
        </p:txBody>
      </p:sp>
      <p:sp>
        <p:nvSpPr>
          <p:cNvPr id="6" name="Rectangle 5"/>
          <p:cNvSpPr/>
          <p:nvPr/>
        </p:nvSpPr>
        <p:spPr>
          <a:xfrm>
            <a:off x="658368" y="2048256"/>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340864"/>
            <a:ext cx="10881360" cy="3383279"/>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423160"/>
            <a:ext cx="2926079"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
            </a:r>
          </a:p>
        </p:txBody>
      </p:sp>
      <p:sp>
        <p:nvSpPr>
          <p:cNvPr id="9" name="TextBox 8"/>
          <p:cNvSpPr txBox="1"/>
          <p:nvPr/>
        </p:nvSpPr>
        <p:spPr>
          <a:xfrm>
            <a:off x="3895344" y="2423160"/>
            <a:ext cx="3703320"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V1  —  CLOUD MODEL (GEMINI API)</a:t>
            </a:r>
          </a:p>
        </p:txBody>
      </p:sp>
      <p:sp>
        <p:nvSpPr>
          <p:cNvPr id="10" name="TextBox 9"/>
          <p:cNvSpPr txBox="1"/>
          <p:nvPr/>
        </p:nvSpPr>
        <p:spPr>
          <a:xfrm>
            <a:off x="7781544" y="2423160"/>
            <a:ext cx="3703320" cy="219456"/>
          </a:xfrm>
          <a:prstGeom prst="rect">
            <a:avLst/>
          </a:prstGeom>
          <a:noFill/>
        </p:spPr>
        <p:txBody>
          <a:bodyPr wrap="square" lIns="0" rIns="0" tIns="0" bIns="0" anchor="t">
            <a:spAutoFit/>
          </a:bodyPr>
          <a:lstStyle/>
          <a:p>
            <a:pPr algn="l">
              <a:lnSpc>
                <a:spcPct val="100000"/>
              </a:lnSpc>
            </a:pPr>
            <a:r>
              <a:rPr sz="950" b="1" spc="90">
                <a:solidFill>
                  <a:srgbClr val="78898B"/>
                </a:solidFill>
                <a:latin typeface="Consolas"/>
              </a:rPr>
              <a:t>V2  —  THIS WORK</a:t>
            </a:r>
          </a:p>
        </p:txBody>
      </p:sp>
      <p:sp>
        <p:nvSpPr>
          <p:cNvPr id="11" name="Rectangle 10"/>
          <p:cNvSpPr/>
          <p:nvPr/>
        </p:nvSpPr>
        <p:spPr>
          <a:xfrm>
            <a:off x="658368" y="2651760"/>
            <a:ext cx="10881360" cy="9144"/>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743200"/>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Where the model runs</a:t>
            </a:r>
          </a:p>
        </p:txBody>
      </p:sp>
      <p:sp>
        <p:nvSpPr>
          <p:cNvPr id="13" name="TextBox 12"/>
          <p:cNvSpPr txBox="1"/>
          <p:nvPr/>
        </p:nvSpPr>
        <p:spPr>
          <a:xfrm>
            <a:off x="3895344" y="2743200"/>
            <a:ext cx="3703320"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alibri"/>
              </a:rPr>
              <a:t>Google's servers</a:t>
            </a:r>
          </a:p>
        </p:txBody>
      </p:sp>
      <p:sp>
        <p:nvSpPr>
          <p:cNvPr id="14" name="TextBox 13"/>
          <p:cNvSpPr txBox="1"/>
          <p:nvPr/>
        </p:nvSpPr>
        <p:spPr>
          <a:xfrm>
            <a:off x="7781544" y="2743200"/>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On the phone</a:t>
            </a:r>
          </a:p>
        </p:txBody>
      </p:sp>
      <p:sp>
        <p:nvSpPr>
          <p:cNvPr id="15" name="Rectangle 14"/>
          <p:cNvSpPr/>
          <p:nvPr/>
        </p:nvSpPr>
        <p:spPr>
          <a:xfrm>
            <a:off x="658368" y="3035808"/>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127248"/>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Does patient data leave?</a:t>
            </a:r>
          </a:p>
        </p:txBody>
      </p:sp>
      <p:sp>
        <p:nvSpPr>
          <p:cNvPr id="17" name="TextBox 16"/>
          <p:cNvSpPr txBox="1"/>
          <p:nvPr/>
        </p:nvSpPr>
        <p:spPr>
          <a:xfrm>
            <a:off x="3895344" y="3127248"/>
            <a:ext cx="3703320" cy="292607"/>
          </a:xfrm>
          <a:prstGeom prst="rect">
            <a:avLst/>
          </a:prstGeom>
          <a:noFill/>
        </p:spPr>
        <p:txBody>
          <a:bodyPr wrap="square" lIns="0" rIns="0" tIns="0" bIns="0" anchor="t">
            <a:spAutoFit/>
          </a:bodyPr>
          <a:lstStyle/>
          <a:p>
            <a:pPr algn="l">
              <a:lnSpc>
                <a:spcPct val="105000"/>
              </a:lnSpc>
            </a:pPr>
            <a:r>
              <a:rPr sz="1200" b="1">
                <a:solidFill>
                  <a:srgbClr val="A33A2A"/>
                </a:solidFill>
                <a:latin typeface="Calibri"/>
              </a:rPr>
              <a:t>Yes — every document uploaded</a:t>
            </a:r>
          </a:p>
        </p:txBody>
      </p:sp>
      <p:sp>
        <p:nvSpPr>
          <p:cNvPr id="18" name="TextBox 17"/>
          <p:cNvSpPr txBox="1"/>
          <p:nvPr/>
        </p:nvSpPr>
        <p:spPr>
          <a:xfrm>
            <a:off x="7781544" y="3127248"/>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Never</a:t>
            </a:r>
          </a:p>
        </p:txBody>
      </p:sp>
      <p:sp>
        <p:nvSpPr>
          <p:cNvPr id="19" name="Rectangle 18"/>
          <p:cNvSpPr/>
          <p:nvPr/>
        </p:nvSpPr>
        <p:spPr>
          <a:xfrm>
            <a:off x="658368" y="3419856"/>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511296"/>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Works without a network</a:t>
            </a:r>
          </a:p>
        </p:txBody>
      </p:sp>
      <p:sp>
        <p:nvSpPr>
          <p:cNvPr id="21" name="TextBox 20"/>
          <p:cNvSpPr txBox="1"/>
          <p:nvPr/>
        </p:nvSpPr>
        <p:spPr>
          <a:xfrm>
            <a:off x="3895344" y="3511296"/>
            <a:ext cx="3703320"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alibri"/>
              </a:rPr>
              <a:t>No</a:t>
            </a:r>
          </a:p>
        </p:txBody>
      </p:sp>
      <p:sp>
        <p:nvSpPr>
          <p:cNvPr id="22" name="TextBox 21"/>
          <p:cNvSpPr txBox="1"/>
          <p:nvPr/>
        </p:nvSpPr>
        <p:spPr>
          <a:xfrm>
            <a:off x="7781544" y="3511296"/>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Yes</a:t>
            </a:r>
          </a:p>
        </p:txBody>
      </p:sp>
      <p:sp>
        <p:nvSpPr>
          <p:cNvPr id="23" name="Rectangle 22"/>
          <p:cNvSpPr/>
          <p:nvPr/>
        </p:nvSpPr>
        <p:spPr>
          <a:xfrm>
            <a:off x="658368" y="3803904"/>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3895344"/>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Can it cite a source?</a:t>
            </a:r>
          </a:p>
        </p:txBody>
      </p:sp>
      <p:sp>
        <p:nvSpPr>
          <p:cNvPr id="25" name="TextBox 24"/>
          <p:cNvSpPr txBox="1"/>
          <p:nvPr/>
        </p:nvSpPr>
        <p:spPr>
          <a:xfrm>
            <a:off x="3895344" y="3895344"/>
            <a:ext cx="3703320"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alibri"/>
              </a:rPr>
              <a:t>No</a:t>
            </a:r>
          </a:p>
        </p:txBody>
      </p:sp>
      <p:sp>
        <p:nvSpPr>
          <p:cNvPr id="26" name="TextBox 25"/>
          <p:cNvSpPr txBox="1"/>
          <p:nvPr/>
        </p:nvSpPr>
        <p:spPr>
          <a:xfrm>
            <a:off x="7781544" y="3895344"/>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Every fact, structurally</a:t>
            </a:r>
          </a:p>
        </p:txBody>
      </p:sp>
      <p:sp>
        <p:nvSpPr>
          <p:cNvPr id="27" name="Rectangle 26"/>
          <p:cNvSpPr/>
          <p:nvPr/>
        </p:nvSpPr>
        <p:spPr>
          <a:xfrm>
            <a:off x="658368" y="4187952"/>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4279392"/>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Same input, same summary?</a:t>
            </a:r>
          </a:p>
        </p:txBody>
      </p:sp>
      <p:sp>
        <p:nvSpPr>
          <p:cNvPr id="29" name="TextBox 28"/>
          <p:cNvSpPr txBox="1"/>
          <p:nvPr/>
        </p:nvSpPr>
        <p:spPr>
          <a:xfrm>
            <a:off x="3895344" y="4279392"/>
            <a:ext cx="3703320" cy="292607"/>
          </a:xfrm>
          <a:prstGeom prst="rect">
            <a:avLst/>
          </a:prstGeom>
          <a:noFill/>
        </p:spPr>
        <p:txBody>
          <a:bodyPr wrap="square" lIns="0" rIns="0" tIns="0" bIns="0" anchor="t">
            <a:spAutoFit/>
          </a:bodyPr>
          <a:lstStyle/>
          <a:p>
            <a:pPr algn="l">
              <a:lnSpc>
                <a:spcPct val="105000"/>
              </a:lnSpc>
            </a:pPr>
            <a:r>
              <a:rPr sz="1200" b="1">
                <a:solidFill>
                  <a:srgbClr val="A33A2A"/>
                </a:solidFill>
                <a:latin typeface="Calibri"/>
              </a:rPr>
              <a:t>Varies on every call</a:t>
            </a:r>
          </a:p>
        </p:txBody>
      </p:sp>
      <p:sp>
        <p:nvSpPr>
          <p:cNvPr id="30" name="TextBox 29"/>
          <p:cNvSpPr txBox="1"/>
          <p:nvPr/>
        </p:nvSpPr>
        <p:spPr>
          <a:xfrm>
            <a:off x="7781544" y="4279392"/>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Byte-identical</a:t>
            </a:r>
          </a:p>
        </p:txBody>
      </p:sp>
      <p:sp>
        <p:nvSpPr>
          <p:cNvPr id="31" name="Rectangle 30"/>
          <p:cNvSpPr/>
          <p:nvPr/>
        </p:nvSpPr>
        <p:spPr>
          <a:xfrm>
            <a:off x="658368" y="4572000"/>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4663440"/>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Structured output</a:t>
            </a:r>
          </a:p>
        </p:txBody>
      </p:sp>
      <p:sp>
        <p:nvSpPr>
          <p:cNvPr id="33" name="TextBox 32"/>
          <p:cNvSpPr txBox="1"/>
          <p:nvPr/>
        </p:nvSpPr>
        <p:spPr>
          <a:xfrm>
            <a:off x="3895344" y="4663440"/>
            <a:ext cx="3703320"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alibri"/>
              </a:rPr>
              <a:t>None — free text</a:t>
            </a:r>
          </a:p>
        </p:txBody>
      </p:sp>
      <p:sp>
        <p:nvSpPr>
          <p:cNvPr id="34" name="TextBox 33"/>
          <p:cNvSpPr txBox="1"/>
          <p:nvPr/>
        </p:nvSpPr>
        <p:spPr>
          <a:xfrm>
            <a:off x="7781544" y="4663440"/>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Typed, FHIR-ready</a:t>
            </a:r>
          </a:p>
        </p:txBody>
      </p:sp>
      <p:sp>
        <p:nvSpPr>
          <p:cNvPr id="35" name="Rectangle 34"/>
          <p:cNvSpPr/>
          <p:nvPr/>
        </p:nvSpPr>
        <p:spPr>
          <a:xfrm>
            <a:off x="658368" y="4956048"/>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047488"/>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Cost per document</a:t>
            </a:r>
          </a:p>
        </p:txBody>
      </p:sp>
      <p:sp>
        <p:nvSpPr>
          <p:cNvPr id="37" name="TextBox 36"/>
          <p:cNvSpPr txBox="1"/>
          <p:nvPr/>
        </p:nvSpPr>
        <p:spPr>
          <a:xfrm>
            <a:off x="3895344" y="5047488"/>
            <a:ext cx="3703320"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alibri"/>
              </a:rPr>
              <a:t>An API call</a:t>
            </a:r>
          </a:p>
        </p:txBody>
      </p:sp>
      <p:sp>
        <p:nvSpPr>
          <p:cNvPr id="38" name="TextBox 37"/>
          <p:cNvSpPr txBox="1"/>
          <p:nvPr/>
        </p:nvSpPr>
        <p:spPr>
          <a:xfrm>
            <a:off x="7781544" y="5047488"/>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Zero</a:t>
            </a:r>
          </a:p>
        </p:txBody>
      </p:sp>
      <p:sp>
        <p:nvSpPr>
          <p:cNvPr id="39" name="Rectangle 38"/>
          <p:cNvSpPr/>
          <p:nvPr/>
        </p:nvSpPr>
        <p:spPr>
          <a:xfrm>
            <a:off x="658368" y="5340096"/>
            <a:ext cx="10881360" cy="6400"/>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 y="5431536"/>
            <a:ext cx="2926079"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onsolas"/>
              </a:rPr>
              <a:t>Duplicate-medicine detection</a:t>
            </a:r>
          </a:p>
        </p:txBody>
      </p:sp>
      <p:sp>
        <p:nvSpPr>
          <p:cNvPr id="41" name="TextBox 40"/>
          <p:cNvSpPr txBox="1"/>
          <p:nvPr/>
        </p:nvSpPr>
        <p:spPr>
          <a:xfrm>
            <a:off x="3895344" y="5431536"/>
            <a:ext cx="3703320" cy="292607"/>
          </a:xfrm>
          <a:prstGeom prst="rect">
            <a:avLst/>
          </a:prstGeom>
          <a:noFill/>
        </p:spPr>
        <p:txBody>
          <a:bodyPr wrap="square" lIns="0" rIns="0" tIns="0" bIns="0" anchor="t">
            <a:spAutoFit/>
          </a:bodyPr>
          <a:lstStyle/>
          <a:p>
            <a:pPr algn="l">
              <a:lnSpc>
                <a:spcPct val="105000"/>
              </a:lnSpc>
            </a:pPr>
            <a:r>
              <a:rPr sz="1200" b="0">
                <a:solidFill>
                  <a:srgbClr val="48595B"/>
                </a:solidFill>
                <a:latin typeface="Calibri"/>
              </a:rPr>
              <a:t>Not possible</a:t>
            </a:r>
          </a:p>
        </p:txBody>
      </p:sp>
      <p:sp>
        <p:nvSpPr>
          <p:cNvPr id="42" name="TextBox 41"/>
          <p:cNvSpPr txBox="1"/>
          <p:nvPr/>
        </p:nvSpPr>
        <p:spPr>
          <a:xfrm>
            <a:off x="7781544" y="5431536"/>
            <a:ext cx="3703320" cy="292607"/>
          </a:xfrm>
          <a:prstGeom prst="rect">
            <a:avLst/>
          </a:prstGeom>
          <a:noFill/>
        </p:spPr>
        <p:txBody>
          <a:bodyPr wrap="square" lIns="0" rIns="0" tIns="0" bIns="0" anchor="t">
            <a:spAutoFit/>
          </a:bodyPr>
          <a:lstStyle/>
          <a:p>
            <a:pPr algn="l">
              <a:lnSpc>
                <a:spcPct val="105000"/>
              </a:lnSpc>
            </a:pPr>
            <a:r>
              <a:rPr sz="1200" b="1">
                <a:solidFill>
                  <a:srgbClr val="2E7D5B"/>
                </a:solidFill>
                <a:latin typeface="Calibri"/>
              </a:rPr>
              <a:t>Flagged and cited</a:t>
            </a:r>
          </a:p>
        </p:txBody>
      </p:sp>
      <p:sp>
        <p:nvSpPr>
          <p:cNvPr id="43" name="Rounded Rectangle 42"/>
          <p:cNvSpPr/>
          <p:nvPr/>
        </p:nvSpPr>
        <p:spPr>
          <a:xfrm>
            <a:off x="658368" y="5852160"/>
            <a:ext cx="10881360" cy="548640"/>
          </a:xfrm>
          <a:prstGeom prst="roundRect">
            <a:avLst>
              <a:gd name="adj" fmla="val 6000"/>
            </a:avLst>
          </a:prstGeom>
          <a:solidFill>
            <a:srgbClr val="EDF1F0"/>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5943600"/>
            <a:ext cx="10332720" cy="420624"/>
          </a:xfrm>
          <a:prstGeom prst="rect">
            <a:avLst/>
          </a:prstGeom>
          <a:noFill/>
        </p:spPr>
        <p:txBody>
          <a:bodyPr wrap="square" lIns="0" rIns="0" tIns="0" bIns="0" anchor="t">
            <a:spAutoFit/>
          </a:bodyPr>
          <a:lstStyle/>
          <a:p>
            <a:pPr algn="l">
              <a:lnSpc>
                <a:spcPct val="130000"/>
              </a:lnSpc>
            </a:pPr>
            <a:r>
              <a:rPr sz="1250" b="0">
                <a:solidFill>
                  <a:srgbClr val="48595B"/>
                </a:solidFill>
                <a:latin typeface="Calibri"/>
              </a:rPr>
              <a:t>The comparison that matters academically:  moving the model on-device did not cost accuracy. It removed a compliance problem, a running cost, and a whole class of failure — while making citation possible for the first time.</a:t>
            </a:r>
          </a:p>
        </p:txBody>
      </p:sp>
      <p:sp>
        <p:nvSpPr>
          <p:cNvPr id="45" name="TextBox 44"/>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46" name="TextBox 45"/>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15   CONCLUSION</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What we have so far</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73936"/>
            <a:ext cx="50292" cy="694944"/>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874520"/>
            <a:ext cx="1024128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A corpus that did not exist</a:t>
            </a:r>
          </a:p>
        </p:txBody>
      </p:sp>
      <p:sp>
        <p:nvSpPr>
          <p:cNvPr id="9" name="TextBox 8"/>
          <p:cNvSpPr txBox="1"/>
          <p:nvPr/>
        </p:nvSpPr>
        <p:spPr>
          <a:xfrm>
            <a:off x="950976" y="2148840"/>
            <a:ext cx="1024128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24,961 synthetic prescriptions built from real, openly-licensed drug data — because prescriptions cannot lawfully be published at scale.</a:t>
            </a:r>
          </a:p>
        </p:txBody>
      </p:sp>
      <p:sp>
        <p:nvSpPr>
          <p:cNvPr id="10" name="Rounded Rectangle 9"/>
          <p:cNvSpPr/>
          <p:nvPr/>
        </p:nvSpPr>
        <p:spPr>
          <a:xfrm>
            <a:off x="658368" y="2560320"/>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560320"/>
            <a:ext cx="50292" cy="694944"/>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660904"/>
            <a:ext cx="1024128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A working extraction pipeline</a:t>
            </a:r>
          </a:p>
        </p:txBody>
      </p:sp>
      <p:sp>
        <p:nvSpPr>
          <p:cNvPr id="13" name="TextBox 12"/>
          <p:cNvSpPr txBox="1"/>
          <p:nvPr/>
        </p:nvSpPr>
        <p:spPr>
          <a:xfrm>
            <a:off x="950976" y="2935224"/>
            <a:ext cx="1024128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Rule-based extraction clearing 93% on drug names and 100% on classification, date and diagnosis, measured on held-out corpus data.</a:t>
            </a:r>
          </a:p>
        </p:txBody>
      </p:sp>
      <p:sp>
        <p:nvSpPr>
          <p:cNvPr id="14" name="Rounded Rectangle 13"/>
          <p:cNvSpPr/>
          <p:nvPr/>
        </p:nvSpPr>
        <p:spPr>
          <a:xfrm>
            <a:off x="658368" y="3346704"/>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346704"/>
            <a:ext cx="50292" cy="694944"/>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3447288"/>
            <a:ext cx="1024128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A summary that updates deterministically</a:t>
            </a:r>
          </a:p>
        </p:txBody>
      </p:sp>
      <p:sp>
        <p:nvSpPr>
          <p:cNvPr id="17" name="TextBox 16"/>
          <p:cNvSpPr txBox="1"/>
          <p:nvPr/>
        </p:nvSpPr>
        <p:spPr>
          <a:xfrm>
            <a:off x="950976" y="3721608"/>
            <a:ext cx="1024128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Folding a new document into an existing summary is arithmetic, not generation — so it is stable, cheap, and every claim keeps its source.</a:t>
            </a:r>
          </a:p>
        </p:txBody>
      </p:sp>
      <p:sp>
        <p:nvSpPr>
          <p:cNvPr id="18" name="Rounded Rectangle 17"/>
          <p:cNvSpPr/>
          <p:nvPr/>
        </p:nvSpPr>
        <p:spPr>
          <a:xfrm>
            <a:off x="658368" y="4133088"/>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133088"/>
            <a:ext cx="50292" cy="694944"/>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233672"/>
            <a:ext cx="1024128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A security layer that holds</a:t>
            </a:r>
          </a:p>
        </p:txBody>
      </p:sp>
      <p:sp>
        <p:nvSpPr>
          <p:cNvPr id="21" name="TextBox 20"/>
          <p:cNvSpPr txBox="1"/>
          <p:nvPr/>
        </p:nvSpPr>
        <p:spPr>
          <a:xfrm>
            <a:off x="950976" y="4507992"/>
            <a:ext cx="1024128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64 tests covering the vault, including three faults found in the earlier prototype: an all-zero IV, an unrecoverable key, and plaintext document upload.</a:t>
            </a:r>
          </a:p>
        </p:txBody>
      </p:sp>
      <p:sp>
        <p:nvSpPr>
          <p:cNvPr id="22" name="Rounded Rectangle 21"/>
          <p:cNvSpPr/>
          <p:nvPr/>
        </p:nvSpPr>
        <p:spPr>
          <a:xfrm>
            <a:off x="658368" y="4919472"/>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919472"/>
            <a:ext cx="50292" cy="694944"/>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5020056"/>
            <a:ext cx="10241280" cy="256032"/>
          </a:xfrm>
          <a:prstGeom prst="rect">
            <a:avLst/>
          </a:prstGeom>
          <a:noFill/>
        </p:spPr>
        <p:txBody>
          <a:bodyPr wrap="square" lIns="0" rIns="0" tIns="0" bIns="0" anchor="t">
            <a:spAutoFit/>
          </a:bodyPr>
          <a:lstStyle/>
          <a:p>
            <a:pPr algn="l">
              <a:lnSpc>
                <a:spcPct val="100000"/>
              </a:lnSpc>
            </a:pPr>
            <a:r>
              <a:rPr sz="1400" b="1">
                <a:solidFill>
                  <a:srgbClr val="14201F"/>
                </a:solidFill>
                <a:latin typeface="Calibri"/>
              </a:rPr>
              <a:t>Verified, not claimed</a:t>
            </a:r>
          </a:p>
        </p:txBody>
      </p:sp>
      <p:sp>
        <p:nvSpPr>
          <p:cNvPr id="25" name="TextBox 24"/>
          <p:cNvSpPr txBox="1"/>
          <p:nvPr/>
        </p:nvSpPr>
        <p:spPr>
          <a:xfrm>
            <a:off x="950976" y="5294376"/>
            <a:ext cx="10241280" cy="256032"/>
          </a:xfrm>
          <a:prstGeom prst="rect">
            <a:avLst/>
          </a:prstGeom>
          <a:noFill/>
        </p:spPr>
        <p:txBody>
          <a:bodyPr wrap="square" lIns="0" rIns="0" tIns="0" bIns="0" anchor="t">
            <a:spAutoFit/>
          </a:bodyPr>
          <a:lstStyle/>
          <a:p>
            <a:pPr algn="l">
              <a:lnSpc>
                <a:spcPct val="100000"/>
              </a:lnSpc>
            </a:pPr>
            <a:r>
              <a:rPr sz="1150" b="0">
                <a:solidFill>
                  <a:srgbClr val="48595B"/>
                </a:solidFill>
                <a:latin typeface="Calibri"/>
              </a:rPr>
              <a:t>86 automated tests. Every number in this deck came from a run we can repeat.</a:t>
            </a:r>
          </a:p>
        </p:txBody>
      </p:sp>
      <p:sp>
        <p:nvSpPr>
          <p:cNvPr id="26" name="TextBox 25"/>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27" name="TextBox 26"/>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16   FUTURE SCOPE</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What comes next, in order</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3429000" cy="329184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73936"/>
            <a:ext cx="3429000" cy="45720"/>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75104"/>
            <a:ext cx="3017520" cy="228600"/>
          </a:xfrm>
          <a:prstGeom prst="rect">
            <a:avLst/>
          </a:prstGeom>
          <a:noFill/>
        </p:spPr>
        <p:txBody>
          <a:bodyPr wrap="square" lIns="0" rIns="0" tIns="0" bIns="0" anchor="t">
            <a:spAutoFit/>
          </a:bodyPr>
          <a:lstStyle/>
          <a:p>
            <a:pPr algn="l">
              <a:lnSpc>
                <a:spcPct val="100000"/>
              </a:lnSpc>
            </a:pPr>
            <a:r>
              <a:rPr sz="950" b="1" spc="120">
                <a:solidFill>
                  <a:srgbClr val="0B6E77"/>
                </a:solidFill>
                <a:latin typeface="Consolas"/>
              </a:rPr>
              <a:t>NEXT PHASE</a:t>
            </a:r>
          </a:p>
        </p:txBody>
      </p:sp>
      <p:sp>
        <p:nvSpPr>
          <p:cNvPr id="9" name="TextBox 8"/>
          <p:cNvSpPr txBox="1"/>
          <p:nvPr/>
        </p:nvSpPr>
        <p:spPr>
          <a:xfrm>
            <a:off x="886968" y="2322576"/>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Neural NER</a:t>
            </a:r>
          </a:p>
        </p:txBody>
      </p:sp>
      <p:sp>
        <p:nvSpPr>
          <p:cNvPr id="10" name="TextBox 9"/>
          <p:cNvSpPr txBox="1"/>
          <p:nvPr/>
        </p:nvSpPr>
        <p:spPr>
          <a:xfrm>
            <a:off x="886968" y="2578608"/>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PubMedBERT fine-tuned on our corpus,</a:t>
            </a:r>
          </a:p>
          <a:p>
            <a:pPr algn="l">
              <a:lnSpc>
                <a:spcPct val="125000"/>
              </a:lnSpc>
            </a:pPr>
            <a:r>
              <a:rPr sz="1050" b="0">
                <a:solidFill>
                  <a:srgbClr val="48595B"/>
                </a:solidFill>
                <a:latin typeface="Calibri"/>
              </a:rPr>
              <a:t>quantised to ONNX for the phone</a:t>
            </a:r>
          </a:p>
        </p:txBody>
      </p:sp>
      <p:sp>
        <p:nvSpPr>
          <p:cNvPr id="11" name="TextBox 10"/>
          <p:cNvSpPr txBox="1"/>
          <p:nvPr/>
        </p:nvSpPr>
        <p:spPr>
          <a:xfrm>
            <a:off x="886968" y="3255264"/>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OCR on handwriting</a:t>
            </a:r>
          </a:p>
        </p:txBody>
      </p:sp>
      <p:sp>
        <p:nvSpPr>
          <p:cNvPr id="12" name="TextBox 11"/>
          <p:cNvSpPr txBox="1"/>
          <p:nvPr/>
        </p:nvSpPr>
        <p:spPr>
          <a:xfrm>
            <a:off x="886968" y="3511296"/>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RxHandBD + IIIT-HW-Dev, once</a:t>
            </a:r>
          </a:p>
          <a:p>
            <a:pPr algn="l">
              <a:lnSpc>
                <a:spcPct val="125000"/>
              </a:lnSpc>
            </a:pPr>
            <a:r>
              <a:rPr sz="1050" b="0">
                <a:solidFill>
                  <a:srgbClr val="48595B"/>
                </a:solidFill>
                <a:latin typeface="Calibri"/>
              </a:rPr>
              <a:t>the academic request clears</a:t>
            </a:r>
          </a:p>
        </p:txBody>
      </p:sp>
      <p:sp>
        <p:nvSpPr>
          <p:cNvPr id="13" name="TextBox 12"/>
          <p:cNvSpPr txBox="1"/>
          <p:nvPr/>
        </p:nvSpPr>
        <p:spPr>
          <a:xfrm>
            <a:off x="886968" y="4187952"/>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Indian brand → generic</a:t>
            </a:r>
          </a:p>
        </p:txBody>
      </p:sp>
      <p:sp>
        <p:nvSpPr>
          <p:cNvPr id="14" name="TextBox 13"/>
          <p:cNvSpPr txBox="1"/>
          <p:nvPr/>
        </p:nvSpPr>
        <p:spPr>
          <a:xfrm>
            <a:off x="886968" y="4443984"/>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CDSCO, National Formulary,</a:t>
            </a:r>
          </a:p>
          <a:p>
            <a:pPr algn="l">
              <a:lnSpc>
                <a:spcPct val="125000"/>
              </a:lnSpc>
            </a:pPr>
            <a:r>
              <a:rPr sz="1050" b="0">
                <a:solidFill>
                  <a:srgbClr val="48595B"/>
                </a:solidFill>
                <a:latin typeface="Calibri"/>
              </a:rPr>
              <a:t>Jan Aushadhi — our main contribution</a:t>
            </a:r>
          </a:p>
        </p:txBody>
      </p:sp>
      <p:sp>
        <p:nvSpPr>
          <p:cNvPr id="15" name="Rounded Rectangle 14"/>
          <p:cNvSpPr/>
          <p:nvPr/>
        </p:nvSpPr>
        <p:spPr>
          <a:xfrm>
            <a:off x="4315968" y="1773936"/>
            <a:ext cx="3429000" cy="329184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1773936"/>
            <a:ext cx="3429000" cy="45720"/>
          </a:xfrm>
          <a:prstGeom prst="rect">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4568" y="1975104"/>
            <a:ext cx="3017520" cy="228600"/>
          </a:xfrm>
          <a:prstGeom prst="rect">
            <a:avLst/>
          </a:prstGeom>
          <a:noFill/>
        </p:spPr>
        <p:txBody>
          <a:bodyPr wrap="square" lIns="0" rIns="0" tIns="0" bIns="0" anchor="t">
            <a:spAutoFit/>
          </a:bodyPr>
          <a:lstStyle/>
          <a:p>
            <a:pPr algn="l">
              <a:lnSpc>
                <a:spcPct val="100000"/>
              </a:lnSpc>
            </a:pPr>
            <a:r>
              <a:rPr sz="950" b="1" spc="120">
                <a:solidFill>
                  <a:srgbClr val="4A5B7A"/>
                </a:solidFill>
                <a:latin typeface="Consolas"/>
              </a:rPr>
              <a:t>AFTER THAT</a:t>
            </a:r>
          </a:p>
        </p:txBody>
      </p:sp>
      <p:sp>
        <p:nvSpPr>
          <p:cNvPr id="18" name="TextBox 17"/>
          <p:cNvSpPr txBox="1"/>
          <p:nvPr/>
        </p:nvSpPr>
        <p:spPr>
          <a:xfrm>
            <a:off x="4544568" y="2322576"/>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On-device language model</a:t>
            </a:r>
          </a:p>
        </p:txBody>
      </p:sp>
      <p:sp>
        <p:nvSpPr>
          <p:cNvPr id="19" name="TextBox 18"/>
          <p:cNvSpPr txBox="1"/>
          <p:nvPr/>
        </p:nvSpPr>
        <p:spPr>
          <a:xfrm>
            <a:off x="4544568" y="2578608"/>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~3 GB quantised model narrating only</a:t>
            </a:r>
          </a:p>
          <a:p>
            <a:pPr algn="l">
              <a:lnSpc>
                <a:spcPct val="125000"/>
              </a:lnSpc>
            </a:pPr>
            <a:r>
              <a:rPr sz="1050" b="0">
                <a:solidFill>
                  <a:srgbClr val="48595B"/>
                </a:solidFill>
                <a:latin typeface="Calibri"/>
              </a:rPr>
              <a:t>the sections whose facts changed</a:t>
            </a:r>
          </a:p>
        </p:txBody>
      </p:sp>
      <p:sp>
        <p:nvSpPr>
          <p:cNvPr id="20" name="TextBox 19"/>
          <p:cNvSpPr txBox="1"/>
          <p:nvPr/>
        </p:nvSpPr>
        <p:spPr>
          <a:xfrm>
            <a:off x="4544568" y="3255264"/>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Cited question answering</a:t>
            </a:r>
          </a:p>
        </p:txBody>
      </p:sp>
      <p:sp>
        <p:nvSpPr>
          <p:cNvPr id="21" name="TextBox 20"/>
          <p:cNvSpPr txBox="1"/>
          <p:nvPr/>
        </p:nvSpPr>
        <p:spPr>
          <a:xfrm>
            <a:off x="4544568" y="3511296"/>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retrieval over the user's own records;</a:t>
            </a:r>
          </a:p>
          <a:p>
            <a:pPr algn="l">
              <a:lnSpc>
                <a:spcPct val="125000"/>
              </a:lnSpc>
            </a:pPr>
            <a:r>
              <a:rPr sz="1050" b="0">
                <a:solidFill>
                  <a:srgbClr val="48595B"/>
                </a:solidFill>
                <a:latin typeface="Calibri"/>
              </a:rPr>
              <a:t>"I don't know" scored as correct</a:t>
            </a:r>
          </a:p>
        </p:txBody>
      </p:sp>
      <p:sp>
        <p:nvSpPr>
          <p:cNvPr id="22" name="TextBox 21"/>
          <p:cNvSpPr txBox="1"/>
          <p:nvPr/>
        </p:nvSpPr>
        <p:spPr>
          <a:xfrm>
            <a:off x="4544568" y="4187952"/>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Semantic search</a:t>
            </a:r>
          </a:p>
        </p:txBody>
      </p:sp>
      <p:sp>
        <p:nvSpPr>
          <p:cNvPr id="23" name="TextBox 22"/>
          <p:cNvSpPr txBox="1"/>
          <p:nvPr/>
        </p:nvSpPr>
        <p:spPr>
          <a:xfrm>
            <a:off x="4544568" y="4443984"/>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embeddings over the whole history</a:t>
            </a:r>
          </a:p>
        </p:txBody>
      </p:sp>
      <p:sp>
        <p:nvSpPr>
          <p:cNvPr id="24" name="Rounded Rectangle 23"/>
          <p:cNvSpPr/>
          <p:nvPr/>
        </p:nvSpPr>
        <p:spPr>
          <a:xfrm>
            <a:off x="7973568" y="1773936"/>
            <a:ext cx="3429000" cy="3291840"/>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73568" y="1773936"/>
            <a:ext cx="3429000" cy="45720"/>
          </a:xfrm>
          <a:prstGeom prst="rect">
            <a:avLst/>
          </a:prstGeom>
          <a:solidFill>
            <a:srgbClr val="788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02168" y="1975104"/>
            <a:ext cx="3017520" cy="228600"/>
          </a:xfrm>
          <a:prstGeom prst="rect">
            <a:avLst/>
          </a:prstGeom>
          <a:noFill/>
        </p:spPr>
        <p:txBody>
          <a:bodyPr wrap="square" lIns="0" rIns="0" tIns="0" bIns="0" anchor="t">
            <a:spAutoFit/>
          </a:bodyPr>
          <a:lstStyle/>
          <a:p>
            <a:pPr algn="l">
              <a:lnSpc>
                <a:spcPct val="100000"/>
              </a:lnSpc>
            </a:pPr>
            <a:r>
              <a:rPr sz="950" b="1" spc="120">
                <a:solidFill>
                  <a:srgbClr val="78898B"/>
                </a:solidFill>
                <a:latin typeface="Consolas"/>
              </a:rPr>
              <a:t>LONGER TERM</a:t>
            </a:r>
          </a:p>
        </p:txBody>
      </p:sp>
      <p:sp>
        <p:nvSpPr>
          <p:cNvPr id="27" name="TextBox 26"/>
          <p:cNvSpPr txBox="1"/>
          <p:nvPr/>
        </p:nvSpPr>
        <p:spPr>
          <a:xfrm>
            <a:off x="8202168" y="2322576"/>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FHIR export</a:t>
            </a:r>
          </a:p>
        </p:txBody>
      </p:sp>
      <p:sp>
        <p:nvSpPr>
          <p:cNvPr id="28" name="TextBox 27"/>
          <p:cNvSpPr txBox="1"/>
          <p:nvPr/>
        </p:nvSpPr>
        <p:spPr>
          <a:xfrm>
            <a:off x="8202168" y="2578608"/>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so records can move to ABDM</a:t>
            </a:r>
          </a:p>
          <a:p>
            <a:pPr algn="l">
              <a:lnSpc>
                <a:spcPct val="125000"/>
              </a:lnSpc>
            </a:pPr>
            <a:r>
              <a:rPr sz="1050" b="0">
                <a:solidFill>
                  <a:srgbClr val="48595B"/>
                </a:solidFill>
                <a:latin typeface="Calibri"/>
              </a:rPr>
              <a:t>and hospital systems</a:t>
            </a:r>
          </a:p>
        </p:txBody>
      </p:sp>
      <p:sp>
        <p:nvSpPr>
          <p:cNvPr id="29" name="TextBox 28"/>
          <p:cNvSpPr txBox="1"/>
          <p:nvPr/>
        </p:nvSpPr>
        <p:spPr>
          <a:xfrm>
            <a:off x="8202168" y="3255264"/>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iOS</a:t>
            </a:r>
          </a:p>
        </p:txBody>
      </p:sp>
      <p:sp>
        <p:nvSpPr>
          <p:cNvPr id="30" name="TextBox 29"/>
          <p:cNvSpPr txBox="1"/>
          <p:nvPr/>
        </p:nvSpPr>
        <p:spPr>
          <a:xfrm>
            <a:off x="8202168" y="3511296"/>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the understanding layer already ports</a:t>
            </a:r>
          </a:p>
          <a:p>
            <a:pPr algn="l">
              <a:lnSpc>
                <a:spcPct val="125000"/>
              </a:lnSpc>
            </a:pPr>
            <a:r>
              <a:rPr sz="1050" b="0">
                <a:solidFill>
                  <a:srgbClr val="48595B"/>
                </a:solidFill>
                <a:latin typeface="Calibri"/>
              </a:rPr>
              <a:t>unchanged</a:t>
            </a:r>
          </a:p>
        </p:txBody>
      </p:sp>
      <p:sp>
        <p:nvSpPr>
          <p:cNvPr id="31" name="TextBox 30"/>
          <p:cNvSpPr txBox="1"/>
          <p:nvPr/>
        </p:nvSpPr>
        <p:spPr>
          <a:xfrm>
            <a:off x="8202168" y="4187952"/>
            <a:ext cx="3017520" cy="256032"/>
          </a:xfrm>
          <a:prstGeom prst="rect">
            <a:avLst/>
          </a:prstGeom>
          <a:noFill/>
        </p:spPr>
        <p:txBody>
          <a:bodyPr wrap="square" lIns="0" rIns="0" tIns="0" bIns="0" anchor="t">
            <a:spAutoFit/>
          </a:bodyPr>
          <a:lstStyle/>
          <a:p>
            <a:pPr algn="l">
              <a:lnSpc>
                <a:spcPct val="100000"/>
              </a:lnSpc>
            </a:pPr>
            <a:r>
              <a:rPr sz="1300" b="1">
                <a:solidFill>
                  <a:srgbClr val="14201F"/>
                </a:solidFill>
                <a:latin typeface="Calibri"/>
              </a:rPr>
              <a:t>Clinic pilot</a:t>
            </a:r>
          </a:p>
        </p:txBody>
      </p:sp>
      <p:sp>
        <p:nvSpPr>
          <p:cNvPr id="32" name="TextBox 31"/>
          <p:cNvSpPr txBox="1"/>
          <p:nvPr/>
        </p:nvSpPr>
        <p:spPr>
          <a:xfrm>
            <a:off x="8202168" y="4443984"/>
            <a:ext cx="3017520" cy="566928"/>
          </a:xfrm>
          <a:prstGeom prst="rect">
            <a:avLst/>
          </a:prstGeom>
          <a:noFill/>
        </p:spPr>
        <p:txBody>
          <a:bodyPr wrap="square" lIns="0" rIns="0" tIns="0" bIns="0" anchor="t">
            <a:spAutoFit/>
          </a:bodyPr>
          <a:lstStyle/>
          <a:p>
            <a:pPr algn="l">
              <a:lnSpc>
                <a:spcPct val="125000"/>
              </a:lnSpc>
            </a:pPr>
            <a:r>
              <a:rPr sz="1050" b="0">
                <a:solidFill>
                  <a:srgbClr val="48595B"/>
                </a:solidFill>
                <a:latin typeface="Calibri"/>
              </a:rPr>
              <a:t>3–5 Mumbai clinics</a:t>
            </a:r>
          </a:p>
        </p:txBody>
      </p:sp>
      <p:sp>
        <p:nvSpPr>
          <p:cNvPr id="33" name="TextBox 32"/>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34" name="TextBox 33"/>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17   SUMMARY</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The whole project in one place</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73936"/>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73936"/>
            <a:ext cx="1783080" cy="694944"/>
          </a:xfrm>
          <a:prstGeom prst="rect">
            <a:avLst/>
          </a:prstGeom>
          <a:solidFill>
            <a:srgbClr val="A3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29968"/>
            <a:ext cx="1463040" cy="256032"/>
          </a:xfrm>
          <a:prstGeom prst="rect">
            <a:avLst/>
          </a:prstGeom>
          <a:noFill/>
        </p:spPr>
        <p:txBody>
          <a:bodyPr wrap="square" lIns="0" rIns="0" tIns="0" bIns="0" anchor="t">
            <a:spAutoFit/>
          </a:bodyPr>
          <a:lstStyle/>
          <a:p>
            <a:pPr algn="l">
              <a:lnSpc>
                <a:spcPct val="100000"/>
              </a:lnSpc>
            </a:pPr>
            <a:r>
              <a:rPr sz="1000" b="1" spc="100">
                <a:solidFill>
                  <a:srgbClr val="FFFFFF"/>
                </a:solidFill>
                <a:latin typeface="Consolas"/>
              </a:rPr>
              <a:t>PROBLEM</a:t>
            </a:r>
          </a:p>
        </p:txBody>
      </p:sp>
      <p:sp>
        <p:nvSpPr>
          <p:cNvPr id="9" name="TextBox 8"/>
          <p:cNvSpPr txBox="1"/>
          <p:nvPr/>
        </p:nvSpPr>
        <p:spPr>
          <a:xfrm>
            <a:off x="2670048" y="1920240"/>
            <a:ext cx="8686800" cy="457200"/>
          </a:xfrm>
          <a:prstGeom prst="rect">
            <a:avLst/>
          </a:prstGeom>
          <a:noFill/>
        </p:spPr>
        <p:txBody>
          <a:bodyPr wrap="square" lIns="0" rIns="0" tIns="0" bIns="0" anchor="t">
            <a:spAutoFit/>
          </a:bodyPr>
          <a:lstStyle/>
          <a:p>
            <a:pPr algn="l">
              <a:lnSpc>
                <a:spcPct val="125000"/>
              </a:lnSpc>
            </a:pPr>
            <a:r>
              <a:rPr sz="1250" b="0">
                <a:solidFill>
                  <a:srgbClr val="48595B"/>
                </a:solidFill>
                <a:latin typeface="Calibri"/>
              </a:rPr>
              <a:t>Indian medical records are photographs. Software cannot read them — so they cannot be searched, questioned, or checked for duplicate medicines.</a:t>
            </a:r>
          </a:p>
        </p:txBody>
      </p:sp>
      <p:sp>
        <p:nvSpPr>
          <p:cNvPr id="10" name="Rounded Rectangle 9"/>
          <p:cNvSpPr/>
          <p:nvPr/>
        </p:nvSpPr>
        <p:spPr>
          <a:xfrm>
            <a:off x="658368" y="2560320"/>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560320"/>
            <a:ext cx="1783080" cy="694944"/>
          </a:xfrm>
          <a:prstGeom prst="rect">
            <a:avLst/>
          </a:prstGeom>
          <a:solidFill>
            <a:srgbClr val="0B6E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2816352"/>
            <a:ext cx="1463040" cy="256032"/>
          </a:xfrm>
          <a:prstGeom prst="rect">
            <a:avLst/>
          </a:prstGeom>
          <a:noFill/>
        </p:spPr>
        <p:txBody>
          <a:bodyPr wrap="square" lIns="0" rIns="0" tIns="0" bIns="0" anchor="t">
            <a:spAutoFit/>
          </a:bodyPr>
          <a:lstStyle/>
          <a:p>
            <a:pPr algn="l">
              <a:lnSpc>
                <a:spcPct val="100000"/>
              </a:lnSpc>
            </a:pPr>
            <a:r>
              <a:rPr sz="1000" b="1" spc="100">
                <a:solidFill>
                  <a:srgbClr val="FFFFFF"/>
                </a:solidFill>
                <a:latin typeface="Consolas"/>
              </a:rPr>
              <a:t>METHOD</a:t>
            </a:r>
          </a:p>
        </p:txBody>
      </p:sp>
      <p:sp>
        <p:nvSpPr>
          <p:cNvPr id="13" name="TextBox 12"/>
          <p:cNvSpPr txBox="1"/>
          <p:nvPr/>
        </p:nvSpPr>
        <p:spPr>
          <a:xfrm>
            <a:off x="2670048" y="2706624"/>
            <a:ext cx="8686800" cy="457200"/>
          </a:xfrm>
          <a:prstGeom prst="rect">
            <a:avLst/>
          </a:prstGeom>
          <a:noFill/>
        </p:spPr>
        <p:txBody>
          <a:bodyPr wrap="square" lIns="0" rIns="0" tIns="0" bIns="0" anchor="t">
            <a:spAutoFit/>
          </a:bodyPr>
          <a:lstStyle/>
          <a:p>
            <a:pPr algn="l">
              <a:lnSpc>
                <a:spcPct val="125000"/>
              </a:lnSpc>
            </a:pPr>
            <a:r>
              <a:rPr sz="1250" b="0">
                <a:solidFill>
                  <a:srgbClr val="48595B"/>
                </a:solidFill>
                <a:latin typeface="Calibri"/>
              </a:rPr>
              <a:t>A nine-stage pipeline running entirely on the phone: classify → OCR → correct → extract → normalise → confirm → artifacts → merge. Rules where the vocabulary is closed, neural models where it is open.</a:t>
            </a:r>
          </a:p>
        </p:txBody>
      </p:sp>
      <p:sp>
        <p:nvSpPr>
          <p:cNvPr id="14" name="Rounded Rectangle 13"/>
          <p:cNvSpPr/>
          <p:nvPr/>
        </p:nvSpPr>
        <p:spPr>
          <a:xfrm>
            <a:off x="658368" y="3346704"/>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346704"/>
            <a:ext cx="1783080" cy="694944"/>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602736"/>
            <a:ext cx="1463040" cy="256032"/>
          </a:xfrm>
          <a:prstGeom prst="rect">
            <a:avLst/>
          </a:prstGeom>
          <a:noFill/>
        </p:spPr>
        <p:txBody>
          <a:bodyPr wrap="square" lIns="0" rIns="0" tIns="0" bIns="0" anchor="t">
            <a:spAutoFit/>
          </a:bodyPr>
          <a:lstStyle/>
          <a:p>
            <a:pPr algn="l">
              <a:lnSpc>
                <a:spcPct val="100000"/>
              </a:lnSpc>
            </a:pPr>
            <a:r>
              <a:rPr sz="1000" b="1" spc="100">
                <a:solidFill>
                  <a:srgbClr val="FFFFFF"/>
                </a:solidFill>
                <a:latin typeface="Consolas"/>
              </a:rPr>
              <a:t>CONTRIBUTION</a:t>
            </a:r>
          </a:p>
        </p:txBody>
      </p:sp>
      <p:sp>
        <p:nvSpPr>
          <p:cNvPr id="17" name="TextBox 16"/>
          <p:cNvSpPr txBox="1"/>
          <p:nvPr/>
        </p:nvSpPr>
        <p:spPr>
          <a:xfrm>
            <a:off x="2670048" y="3493008"/>
            <a:ext cx="8686800" cy="457200"/>
          </a:xfrm>
          <a:prstGeom prst="rect">
            <a:avLst/>
          </a:prstGeom>
          <a:noFill/>
        </p:spPr>
        <p:txBody>
          <a:bodyPr wrap="square" lIns="0" rIns="0" tIns="0" bIns="0" anchor="t">
            <a:spAutoFit/>
          </a:bodyPr>
          <a:lstStyle/>
          <a:p>
            <a:pPr algn="l">
              <a:lnSpc>
                <a:spcPct val="125000"/>
              </a:lnSpc>
            </a:pPr>
            <a:r>
              <a:rPr sz="1250" b="0">
                <a:solidFill>
                  <a:srgbClr val="48595B"/>
                </a:solidFill>
                <a:latin typeface="Calibri"/>
              </a:rPr>
              <a:t>A synthetic corpus where none could exist, and a summary that updates by arithmetic rather than generation — which is what makes every claim citable.</a:t>
            </a:r>
          </a:p>
        </p:txBody>
      </p:sp>
      <p:sp>
        <p:nvSpPr>
          <p:cNvPr id="18" name="Rounded Rectangle 17"/>
          <p:cNvSpPr/>
          <p:nvPr/>
        </p:nvSpPr>
        <p:spPr>
          <a:xfrm>
            <a:off x="658368" y="4133088"/>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133088"/>
            <a:ext cx="1783080" cy="694944"/>
          </a:xfrm>
          <a:prstGeom prst="rect">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389120"/>
            <a:ext cx="1463040" cy="256032"/>
          </a:xfrm>
          <a:prstGeom prst="rect">
            <a:avLst/>
          </a:prstGeom>
          <a:noFill/>
        </p:spPr>
        <p:txBody>
          <a:bodyPr wrap="square" lIns="0" rIns="0" tIns="0" bIns="0" anchor="t">
            <a:spAutoFit/>
          </a:bodyPr>
          <a:lstStyle/>
          <a:p>
            <a:pPr algn="l">
              <a:lnSpc>
                <a:spcPct val="100000"/>
              </a:lnSpc>
            </a:pPr>
            <a:r>
              <a:rPr sz="1000" b="1" spc="100">
                <a:solidFill>
                  <a:srgbClr val="FFFFFF"/>
                </a:solidFill>
                <a:latin typeface="Consolas"/>
              </a:rPr>
              <a:t>RESULTS SO FAR</a:t>
            </a:r>
          </a:p>
        </p:txBody>
      </p:sp>
      <p:sp>
        <p:nvSpPr>
          <p:cNvPr id="21" name="TextBox 20"/>
          <p:cNvSpPr txBox="1"/>
          <p:nvPr/>
        </p:nvSpPr>
        <p:spPr>
          <a:xfrm>
            <a:off x="2670048" y="4279392"/>
            <a:ext cx="8686800" cy="457200"/>
          </a:xfrm>
          <a:prstGeom prst="rect">
            <a:avLst/>
          </a:prstGeom>
          <a:noFill/>
        </p:spPr>
        <p:txBody>
          <a:bodyPr wrap="square" lIns="0" rIns="0" tIns="0" bIns="0" anchor="t">
            <a:spAutoFit/>
          </a:bodyPr>
          <a:lstStyle/>
          <a:p>
            <a:pPr algn="l">
              <a:lnSpc>
                <a:spcPct val="125000"/>
              </a:lnSpc>
            </a:pPr>
            <a:r>
              <a:rPr sz="1250" b="0">
                <a:solidFill>
                  <a:srgbClr val="48595B"/>
                </a:solidFill>
                <a:latin typeface="Calibri"/>
              </a:rPr>
              <a:t>100% on classification, date, diagnosis and prescriber. 93% on drug names. 86 automated tests passing. Rule layer only, no ML yet.</a:t>
            </a:r>
          </a:p>
        </p:txBody>
      </p:sp>
      <p:sp>
        <p:nvSpPr>
          <p:cNvPr id="22" name="Rounded Rectangle 21"/>
          <p:cNvSpPr/>
          <p:nvPr/>
        </p:nvSpPr>
        <p:spPr>
          <a:xfrm>
            <a:off x="658368" y="4919472"/>
            <a:ext cx="10881360" cy="694944"/>
          </a:xfrm>
          <a:prstGeom prst="roundRect">
            <a:avLst>
              <a:gd name="adj" fmla="val 6000"/>
            </a:avLst>
          </a:prstGeom>
          <a:solidFill>
            <a:srgbClr val="FFFFFF"/>
          </a:solidFill>
          <a:ln w="12700">
            <a:solidFill>
              <a:srgbClr val="DC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919472"/>
            <a:ext cx="1783080" cy="694944"/>
          </a:xfrm>
          <a:prstGeom prst="rect">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5175504"/>
            <a:ext cx="1463040" cy="256032"/>
          </a:xfrm>
          <a:prstGeom prst="rect">
            <a:avLst/>
          </a:prstGeom>
          <a:noFill/>
        </p:spPr>
        <p:txBody>
          <a:bodyPr wrap="square" lIns="0" rIns="0" tIns="0" bIns="0" anchor="t">
            <a:spAutoFit/>
          </a:bodyPr>
          <a:lstStyle/>
          <a:p>
            <a:pPr algn="l">
              <a:lnSpc>
                <a:spcPct val="100000"/>
              </a:lnSpc>
            </a:pPr>
            <a:r>
              <a:rPr sz="1000" b="1" spc="100">
                <a:solidFill>
                  <a:srgbClr val="FFFFFF"/>
                </a:solidFill>
                <a:latin typeface="Consolas"/>
              </a:rPr>
              <a:t>EXPECTED OUTCOME</a:t>
            </a:r>
          </a:p>
        </p:txBody>
      </p:sp>
      <p:sp>
        <p:nvSpPr>
          <p:cNvPr id="25" name="TextBox 24"/>
          <p:cNvSpPr txBox="1"/>
          <p:nvPr/>
        </p:nvSpPr>
        <p:spPr>
          <a:xfrm>
            <a:off x="2670048" y="5065776"/>
            <a:ext cx="8686800" cy="457200"/>
          </a:xfrm>
          <a:prstGeom prst="rect">
            <a:avLst/>
          </a:prstGeom>
          <a:noFill/>
        </p:spPr>
        <p:txBody>
          <a:bodyPr wrap="square" lIns="0" rIns="0" tIns="0" bIns="0" anchor="t">
            <a:spAutoFit/>
          </a:bodyPr>
          <a:lstStyle/>
          <a:p>
            <a:pPr algn="l">
              <a:lnSpc>
                <a:spcPct val="125000"/>
              </a:lnSpc>
            </a:pPr>
            <a:r>
              <a:rPr sz="1250" b="0">
                <a:solidFill>
                  <a:srgbClr val="48595B"/>
                </a:solidFill>
                <a:latin typeface="Calibri"/>
              </a:rPr>
              <a:t>A privacy-first medical vault that reads what it stores, works with no signal, and can always show you where an answer came from.</a:t>
            </a:r>
          </a:p>
        </p:txBody>
      </p:sp>
      <p:sp>
        <p:nvSpPr>
          <p:cNvPr id="26" name="TextBox 25"/>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27" name="TextBox 26"/>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20624"/>
            <a:ext cx="9144000" cy="237744"/>
          </a:xfrm>
          <a:prstGeom prst="rect">
            <a:avLst/>
          </a:prstGeom>
          <a:noFill/>
        </p:spPr>
        <p:txBody>
          <a:bodyPr wrap="square" lIns="0" rIns="0" tIns="0" bIns="0" anchor="t">
            <a:spAutoFit/>
          </a:bodyPr>
          <a:lstStyle/>
          <a:p>
            <a:pPr algn="l">
              <a:lnSpc>
                <a:spcPct val="100000"/>
              </a:lnSpc>
            </a:pPr>
            <a:r>
              <a:rPr sz="1000" b="1" spc="140">
                <a:solidFill>
                  <a:srgbClr val="0B6E77"/>
                </a:solidFill>
                <a:latin typeface="Consolas"/>
              </a:rPr>
              <a:t>18   REFERENCES</a:t>
            </a:r>
          </a:p>
        </p:txBody>
      </p:sp>
      <p:sp>
        <p:nvSpPr>
          <p:cNvPr id="4" name="TextBox 3"/>
          <p:cNvSpPr txBox="1"/>
          <p:nvPr/>
        </p:nvSpPr>
        <p:spPr>
          <a:xfrm>
            <a:off x="658368" y="731520"/>
            <a:ext cx="10874959" cy="658368"/>
          </a:xfrm>
          <a:prstGeom prst="rect">
            <a:avLst/>
          </a:prstGeom>
          <a:noFill/>
        </p:spPr>
        <p:txBody>
          <a:bodyPr wrap="square" lIns="0" rIns="0" tIns="0" bIns="0" anchor="t">
            <a:spAutoFit/>
          </a:bodyPr>
          <a:lstStyle/>
          <a:p>
            <a:pPr algn="l">
              <a:lnSpc>
                <a:spcPct val="95000"/>
              </a:lnSpc>
            </a:pPr>
            <a:r>
              <a:rPr sz="3000" b="1">
                <a:solidFill>
                  <a:srgbClr val="14201F"/>
                </a:solidFill>
                <a:latin typeface="Calibri"/>
              </a:rPr>
              <a:t>Papers, datasets and standards used</a:t>
            </a:r>
          </a:p>
        </p:txBody>
      </p:sp>
      <p:sp>
        <p:nvSpPr>
          <p:cNvPr id="5" name="Rectangle 4"/>
          <p:cNvSpPr/>
          <p:nvPr/>
        </p:nvSpPr>
        <p:spPr>
          <a:xfrm>
            <a:off x="658368" y="1481328"/>
            <a:ext cx="10874959" cy="12801"/>
          </a:xfrm>
          <a:prstGeom prst="rect">
            <a:avLst/>
          </a:prstGeom>
          <a:solidFill>
            <a:srgbClr val="DC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73936"/>
            <a:ext cx="5394960" cy="256032"/>
          </a:xfrm>
          <a:prstGeom prst="rect">
            <a:avLst/>
          </a:prstGeom>
          <a:noFill/>
        </p:spPr>
        <p:txBody>
          <a:bodyPr wrap="square" lIns="0" rIns="0" tIns="0" bIns="0" anchor="t">
            <a:spAutoFit/>
          </a:bodyPr>
          <a:lstStyle/>
          <a:p>
            <a:pPr algn="l">
              <a:lnSpc>
                <a:spcPct val="100000"/>
              </a:lnSpc>
            </a:pPr>
            <a:r>
              <a:rPr sz="950" b="1" spc="120">
                <a:solidFill>
                  <a:srgbClr val="0B6E77"/>
                </a:solidFill>
                <a:latin typeface="Consolas"/>
              </a:rPr>
              <a:t>PAPERS</a:t>
            </a:r>
          </a:p>
        </p:txBody>
      </p:sp>
      <p:sp>
        <p:nvSpPr>
          <p:cNvPr id="7" name="TextBox 6"/>
          <p:cNvSpPr txBox="1"/>
          <p:nvPr/>
        </p:nvSpPr>
        <p:spPr>
          <a:xfrm>
            <a:off x="658368" y="21031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  Lee, J. et al. (2020). BioBERT: a pre-trained biomedical language representation model. Bioinformatics.</a:t>
            </a:r>
          </a:p>
        </p:txBody>
      </p:sp>
      <p:sp>
        <p:nvSpPr>
          <p:cNvPr id="8" name="TextBox 7"/>
          <p:cNvSpPr txBox="1"/>
          <p:nvPr/>
        </p:nvSpPr>
        <p:spPr>
          <a:xfrm>
            <a:off x="658368" y="25603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[2]  Gu, Y. et al. (2021). Domain-Specific Language Model Pretraining for Biomedical NLP. ACM Trans. Computing for Healthcare.</a:t>
            </a:r>
          </a:p>
        </p:txBody>
      </p:sp>
      <p:sp>
        <p:nvSpPr>
          <p:cNvPr id="9" name="TextBox 8"/>
          <p:cNvSpPr txBox="1"/>
          <p:nvPr/>
        </p:nvSpPr>
        <p:spPr>
          <a:xfrm>
            <a:off x="658368" y="30175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[3]  Alsentzer, E. et al. (2019). Publicly Available Clinical BERT Embeddings. Clinical NLP Workshop, NAACL.</a:t>
            </a:r>
          </a:p>
        </p:txBody>
      </p:sp>
      <p:sp>
        <p:nvSpPr>
          <p:cNvPr id="10" name="TextBox 9"/>
          <p:cNvSpPr txBox="1"/>
          <p:nvPr/>
        </p:nvSpPr>
        <p:spPr>
          <a:xfrm>
            <a:off x="658368" y="34747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[4]  Uzuner, Ö. et al. (2011). 2010 i2b2/VA challenge on concepts, assertions and relations in clinical text. JAMIA.</a:t>
            </a:r>
          </a:p>
        </p:txBody>
      </p:sp>
      <p:sp>
        <p:nvSpPr>
          <p:cNvPr id="11" name="TextBox 10"/>
          <p:cNvSpPr txBox="1"/>
          <p:nvPr/>
        </p:nvSpPr>
        <p:spPr>
          <a:xfrm>
            <a:off x="658368" y="39319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[5]  Li, J. et al. (2016). BioCreative V CDR task corpus. Database.</a:t>
            </a:r>
          </a:p>
        </p:txBody>
      </p:sp>
      <p:sp>
        <p:nvSpPr>
          <p:cNvPr id="12" name="TextBox 11"/>
          <p:cNvSpPr txBox="1"/>
          <p:nvPr/>
        </p:nvSpPr>
        <p:spPr>
          <a:xfrm>
            <a:off x="658368" y="43891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[6]  Neumann, M. et al. (2019). ScispaCy: Fast and Robust Models for Biomedical NLP. BioNLP Workshop.</a:t>
            </a:r>
          </a:p>
        </p:txBody>
      </p:sp>
      <p:sp>
        <p:nvSpPr>
          <p:cNvPr id="13" name="TextBox 12"/>
          <p:cNvSpPr txBox="1"/>
          <p:nvPr/>
        </p:nvSpPr>
        <p:spPr>
          <a:xfrm>
            <a:off x="658368" y="48463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[7]  Ramanathan, A. &amp; Rao, D. (2003). A Lightweight Stemmer for Hindi. EACL Workshop on Computational Linguistics for South Asian Languages.</a:t>
            </a:r>
          </a:p>
        </p:txBody>
      </p:sp>
      <p:sp>
        <p:nvSpPr>
          <p:cNvPr id="14" name="TextBox 13"/>
          <p:cNvSpPr txBox="1"/>
          <p:nvPr/>
        </p:nvSpPr>
        <p:spPr>
          <a:xfrm>
            <a:off x="658368" y="5303520"/>
            <a:ext cx="525780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[8]  MIRAGE: Indian prescription dataset. arXiv:2410.09729.</a:t>
            </a:r>
          </a:p>
        </p:txBody>
      </p:sp>
      <p:sp>
        <p:nvSpPr>
          <p:cNvPr id="15" name="TextBox 14"/>
          <p:cNvSpPr txBox="1"/>
          <p:nvPr/>
        </p:nvSpPr>
        <p:spPr>
          <a:xfrm>
            <a:off x="6327648" y="1773936"/>
            <a:ext cx="5212080" cy="256032"/>
          </a:xfrm>
          <a:prstGeom prst="rect">
            <a:avLst/>
          </a:prstGeom>
          <a:noFill/>
        </p:spPr>
        <p:txBody>
          <a:bodyPr wrap="square" lIns="0" rIns="0" tIns="0" bIns="0" anchor="t">
            <a:spAutoFit/>
          </a:bodyPr>
          <a:lstStyle/>
          <a:p>
            <a:pPr algn="l">
              <a:lnSpc>
                <a:spcPct val="100000"/>
              </a:lnSpc>
            </a:pPr>
            <a:r>
              <a:rPr sz="950" b="1" spc="120">
                <a:solidFill>
                  <a:srgbClr val="4A5B7A"/>
                </a:solidFill>
                <a:latin typeface="Consolas"/>
              </a:rPr>
              <a:t>DATASETS AND STANDARDS</a:t>
            </a:r>
          </a:p>
        </p:txBody>
      </p:sp>
      <p:sp>
        <p:nvSpPr>
          <p:cNvPr id="16" name="TextBox 15"/>
          <p:cNvSpPr txBox="1"/>
          <p:nvPr/>
        </p:nvSpPr>
        <p:spPr>
          <a:xfrm>
            <a:off x="6327648" y="21031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[9]  SIDER 4.1 — drug–indication mappings. sideeffects.embl.de</a:t>
            </a:r>
          </a:p>
        </p:txBody>
      </p:sp>
      <p:sp>
        <p:nvSpPr>
          <p:cNvPr id="17" name="TextBox 16"/>
          <p:cNvSpPr txBox="1"/>
          <p:nvPr/>
        </p:nvSpPr>
        <p:spPr>
          <a:xfrm>
            <a:off x="6327648" y="25603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[10]  openFDA Drug Labels — brands, strengths, indications. open.fda.gov</a:t>
            </a:r>
          </a:p>
        </p:txBody>
      </p:sp>
      <p:sp>
        <p:nvSpPr>
          <p:cNvPr id="18" name="TextBox 17"/>
          <p:cNvSpPr txBox="1"/>
          <p:nvPr/>
        </p:nvSpPr>
        <p:spPr>
          <a:xfrm>
            <a:off x="6327648" y="30175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[11]  ICD-10-CM 2025 — diagnosis coding. CMS.gov</a:t>
            </a:r>
          </a:p>
        </p:txBody>
      </p:sp>
      <p:sp>
        <p:nvSpPr>
          <p:cNvPr id="19" name="TextBox 18"/>
          <p:cNvSpPr txBox="1"/>
          <p:nvPr/>
        </p:nvSpPr>
        <p:spPr>
          <a:xfrm>
            <a:off x="6327648" y="34747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[12]  MedDRA / UMLS concept identifiers (via SIDER).</a:t>
            </a:r>
          </a:p>
        </p:txBody>
      </p:sp>
      <p:sp>
        <p:nvSpPr>
          <p:cNvPr id="20" name="TextBox 19"/>
          <p:cNvSpPr txBox="1"/>
          <p:nvPr/>
        </p:nvSpPr>
        <p:spPr>
          <a:xfrm>
            <a:off x="6327648" y="39319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[13]  RxNorm, SNOMED CT, LOINC — terminology standards.</a:t>
            </a:r>
          </a:p>
        </p:txBody>
      </p:sp>
      <p:sp>
        <p:nvSpPr>
          <p:cNvPr id="21" name="TextBox 20"/>
          <p:cNvSpPr txBox="1"/>
          <p:nvPr/>
        </p:nvSpPr>
        <p:spPr>
          <a:xfrm>
            <a:off x="6327648" y="43891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[14]  Digital Personal Data Protection Act, 2023 (India).</a:t>
            </a:r>
          </a:p>
        </p:txBody>
      </p:sp>
      <p:sp>
        <p:nvSpPr>
          <p:cNvPr id="22" name="TextBox 21"/>
          <p:cNvSpPr txBox="1"/>
          <p:nvPr/>
        </p:nvSpPr>
        <p:spPr>
          <a:xfrm>
            <a:off x="6327648" y="48463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[15]  Ayushman Bharat Digital Mission (ABDM) — health data framework.</a:t>
            </a:r>
          </a:p>
        </p:txBody>
      </p:sp>
      <p:sp>
        <p:nvSpPr>
          <p:cNvPr id="23" name="TextBox 22"/>
          <p:cNvSpPr txBox="1"/>
          <p:nvPr/>
        </p:nvSpPr>
        <p:spPr>
          <a:xfrm>
            <a:off x="6327648" y="5303520"/>
            <a:ext cx="5212080" cy="420624"/>
          </a:xfrm>
          <a:prstGeom prst="rect">
            <a:avLst/>
          </a:prstGeom>
          <a:noFill/>
        </p:spPr>
        <p:txBody>
          <a:bodyPr wrap="square" lIns="0" rIns="0" tIns="0" bIns="0" anchor="t">
            <a:spAutoFit/>
          </a:bodyPr>
          <a:lstStyle/>
          <a:p>
            <a:pPr algn="l">
              <a:lnSpc>
                <a:spcPct val="120000"/>
              </a:lnSpc>
            </a:pPr>
            <a:r>
              <a:rPr sz="1000" b="0">
                <a:solidFill>
                  <a:srgbClr val="48595B"/>
                </a:solidFill>
                <a:latin typeface="Calibri"/>
              </a:rPr>
              <a:t>[16]  HL7 FHIR — health record interchange standard.</a:t>
            </a:r>
          </a:p>
        </p:txBody>
      </p:sp>
      <p:sp>
        <p:nvSpPr>
          <p:cNvPr id="24" name="Rounded Rectangle 23"/>
          <p:cNvSpPr/>
          <p:nvPr/>
        </p:nvSpPr>
        <p:spPr>
          <a:xfrm>
            <a:off x="658368" y="5815584"/>
            <a:ext cx="10881360" cy="548640"/>
          </a:xfrm>
          <a:prstGeom prst="roundRect">
            <a:avLst>
              <a:gd name="adj" fmla="val 6000"/>
            </a:avLst>
          </a:prstGeom>
          <a:solidFill>
            <a:srgbClr val="B2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925312"/>
            <a:ext cx="10332720" cy="365760"/>
          </a:xfrm>
          <a:prstGeom prst="rect">
            <a:avLst/>
          </a:prstGeom>
          <a:noFill/>
        </p:spPr>
        <p:txBody>
          <a:bodyPr wrap="square" lIns="0" rIns="0" tIns="0" bIns="0" anchor="t">
            <a:spAutoFit/>
          </a:bodyPr>
          <a:lstStyle/>
          <a:p>
            <a:pPr algn="l">
              <a:lnSpc>
                <a:spcPct val="100000"/>
              </a:lnSpc>
            </a:pPr>
            <a:r>
              <a:rPr sz="1150" b="1">
                <a:solidFill>
                  <a:srgbClr val="FFFFFF"/>
                </a:solidFill>
                <a:latin typeface="Calibri"/>
              </a:rPr>
              <a:t>Before submission:  open and verify every citation above against the actual paper, and add volume, issue and page numbers in the format your department requires.</a:t>
            </a:r>
          </a:p>
        </p:txBody>
      </p:sp>
      <p:sp>
        <p:nvSpPr>
          <p:cNvPr id="26" name="TextBox 25"/>
          <p:cNvSpPr txBox="1"/>
          <p:nvPr/>
        </p:nvSpPr>
        <p:spPr>
          <a:xfrm>
            <a:off x="658368" y="6437376"/>
            <a:ext cx="5486400" cy="219456"/>
          </a:xfrm>
          <a:prstGeom prst="rect">
            <a:avLst/>
          </a:prstGeom>
          <a:noFill/>
        </p:spPr>
        <p:txBody>
          <a:bodyPr wrap="square" lIns="0" rIns="0" tIns="0" bIns="0" anchor="t">
            <a:spAutoFit/>
          </a:bodyPr>
          <a:lstStyle/>
          <a:p>
            <a:pPr algn="l">
              <a:lnSpc>
                <a:spcPct val="100000"/>
              </a:lnSpc>
            </a:pPr>
            <a:r>
              <a:rPr sz="900" b="0">
                <a:solidFill>
                  <a:srgbClr val="78898B"/>
                </a:solidFill>
                <a:latin typeface="Consolas"/>
              </a:rPr>
              <a:t>MediLocker · NLP Mini Project · Mid-Term</a:t>
            </a:r>
          </a:p>
        </p:txBody>
      </p:sp>
      <p:sp>
        <p:nvSpPr>
          <p:cNvPr id="27" name="TextBox 26"/>
          <p:cNvSpPr txBox="1"/>
          <p:nvPr/>
        </p:nvSpPr>
        <p:spPr>
          <a:xfrm>
            <a:off x="10436047" y="6437376"/>
            <a:ext cx="1097280" cy="219456"/>
          </a:xfrm>
          <a:prstGeom prst="rect">
            <a:avLst/>
          </a:prstGeom>
          <a:noFill/>
        </p:spPr>
        <p:txBody>
          <a:bodyPr wrap="square" lIns="0" rIns="0" tIns="0" bIns="0" anchor="t">
            <a:spAutoFit/>
          </a:bodyPr>
          <a:lstStyle/>
          <a:p>
            <a:pPr algn="r">
              <a:lnSpc>
                <a:spcPct val="100000"/>
              </a:lnSpc>
            </a:pPr>
            <a:r>
              <a:rPr sz="900" b="0">
                <a:solidFill>
                  <a:srgbClr val="78898B"/>
                </a:solidFill>
                <a:latin typeface="Consolas"/>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